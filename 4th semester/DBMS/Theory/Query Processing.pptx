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y="5143500" cx="9144000"/>
  <p:notesSz cx="6858000" cy="9144000"/>
  <p:embeddedFontLst>
    <p:embeddedFont>
      <p:font typeface="Roboto"/>
      <p:regular r:id="rId34"/>
      <p:bold r:id="rId35"/>
      <p:italic r:id="rId36"/>
      <p:boldItalic r:id="rId37"/>
    </p:embeddedFont>
    <p:embeddedFont>
      <p:font typeface="PT Sans Narrow"/>
      <p:regular r:id="rId38"/>
      <p:bold r:id="rId39"/>
    </p:embeddedFont>
    <p:embeddedFont>
      <p:font typeface="Noto Sans Symbols"/>
      <p:regular r:id="rId40"/>
      <p:bold r:id="rId41"/>
    </p:embeddedFont>
    <p:embeddedFont>
      <p:font typeface="Lustria"/>
      <p:regular r:id="rId42"/>
    </p:embeddedFont>
    <p:embeddedFont>
      <p:font typeface="Open Sans"/>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NotoSansSymbols-regular.fntdata"/><Relationship Id="rId20" Type="http://schemas.openxmlformats.org/officeDocument/2006/relationships/slide" Target="slides/slide15.xml"/><Relationship Id="rId42" Type="http://schemas.openxmlformats.org/officeDocument/2006/relationships/font" Target="fonts/Lustria-regular.fntdata"/><Relationship Id="rId41" Type="http://schemas.openxmlformats.org/officeDocument/2006/relationships/font" Target="fonts/NotoSansSymbols-bold.fntdata"/><Relationship Id="rId22" Type="http://schemas.openxmlformats.org/officeDocument/2006/relationships/slide" Target="slides/slide17.xml"/><Relationship Id="rId44" Type="http://schemas.openxmlformats.org/officeDocument/2006/relationships/font" Target="fonts/OpenSans-bold.fntdata"/><Relationship Id="rId21" Type="http://schemas.openxmlformats.org/officeDocument/2006/relationships/slide" Target="slides/slide16.xml"/><Relationship Id="rId43" Type="http://schemas.openxmlformats.org/officeDocument/2006/relationships/font" Target="fonts/OpenSans-regular.fntdata"/><Relationship Id="rId24" Type="http://schemas.openxmlformats.org/officeDocument/2006/relationships/slide" Target="slides/slide19.xml"/><Relationship Id="rId46" Type="http://schemas.openxmlformats.org/officeDocument/2006/relationships/font" Target="fonts/OpenSans-boldItalic.fntdata"/><Relationship Id="rId23" Type="http://schemas.openxmlformats.org/officeDocument/2006/relationships/slide" Target="slides/slide18.xml"/><Relationship Id="rId45" Type="http://schemas.openxmlformats.org/officeDocument/2006/relationships/font" Target="fonts/OpenSans-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Roboto-bold.fntdata"/><Relationship Id="rId12" Type="http://schemas.openxmlformats.org/officeDocument/2006/relationships/slide" Target="slides/slide7.xml"/><Relationship Id="rId34" Type="http://schemas.openxmlformats.org/officeDocument/2006/relationships/font" Target="fonts/Roboto-regular.fntdata"/><Relationship Id="rId15" Type="http://schemas.openxmlformats.org/officeDocument/2006/relationships/slide" Target="slides/slide10.xml"/><Relationship Id="rId37" Type="http://schemas.openxmlformats.org/officeDocument/2006/relationships/font" Target="fonts/Roboto-boldItalic.fntdata"/><Relationship Id="rId14" Type="http://schemas.openxmlformats.org/officeDocument/2006/relationships/slide" Target="slides/slide9.xml"/><Relationship Id="rId36" Type="http://schemas.openxmlformats.org/officeDocument/2006/relationships/font" Target="fonts/Roboto-italic.fntdata"/><Relationship Id="rId17" Type="http://schemas.openxmlformats.org/officeDocument/2006/relationships/slide" Target="slides/slide12.xml"/><Relationship Id="rId39" Type="http://schemas.openxmlformats.org/officeDocument/2006/relationships/font" Target="fonts/PTSansNarrow-bold.fntdata"/><Relationship Id="rId16" Type="http://schemas.openxmlformats.org/officeDocument/2006/relationships/slide" Target="slides/slide11.xml"/><Relationship Id="rId38" Type="http://schemas.openxmlformats.org/officeDocument/2006/relationships/font" Target="fonts/PTSansNarrow-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2aee69a791f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2aee69a791f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2aee69a791f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2aee69a791f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2aee69a791f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2aee69a791f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2aee69a791f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2aee69a791f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2aee69a791f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2aee69a791f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2aee69a791f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2aee69a791f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Parsing and translation ● translate the query into its internal form. This is then translated into relational algebra. ● Parser checks syntax, verifies relations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2aee69a791f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2aee69a791f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2aee69a791f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2aee69a791f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 Evaluation ● The query-execution engine takes a query-evaluation plan, executes that plan, and returns the answers to the query.</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2aee69a791f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2aee69a791f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2aee69a791f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2aee69a791f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aee69a791f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2aee69a791f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2aee69a791f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2aee69a791f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2aee69a791f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2aee69a791f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665254404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2665254404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665254404a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2665254404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2665254404a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2665254404a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2665254404a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2665254404a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aee69a791f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2aee69a791f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2aee69a791f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2aee69a791f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2aee69a791f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2aee69a791f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2aee69a791f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2aee69a791f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2aee69a791f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2aee69a791f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2aee69a791f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2aee69a791f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2aee69a791f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2aee69a791f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2aee69a791f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2aee69a791f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2aee69a791f_0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2aee69a791f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2aee69a791f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2aee69a791f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2"/>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11" name="Google Shape;11;p2"/>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12" name="Google Shape;12;p2"/>
          <p:cNvGrpSpPr/>
          <p:nvPr/>
        </p:nvGrpSpPr>
        <p:grpSpPr>
          <a:xfrm>
            <a:off x="1004144" y="1022025"/>
            <a:ext cx="7136668" cy="152400"/>
            <a:chOff x="1346429" y="1011300"/>
            <a:chExt cx="6452100" cy="152400"/>
          </a:xfrm>
        </p:grpSpPr>
        <p:cxnSp>
          <p:nvCxnSpPr>
            <p:cNvPr id="13" name="Google Shape;13;p2"/>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4" name="Google Shape;14;p2"/>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15" name="Google Shape;15;p2"/>
          <p:cNvGrpSpPr/>
          <p:nvPr/>
        </p:nvGrpSpPr>
        <p:grpSpPr>
          <a:xfrm>
            <a:off x="1004151" y="3969100"/>
            <a:ext cx="7136668" cy="152400"/>
            <a:chOff x="1346435" y="3969088"/>
            <a:chExt cx="6452100" cy="152400"/>
          </a:xfrm>
        </p:grpSpPr>
        <p:cxnSp>
          <p:nvCxnSpPr>
            <p:cNvPr id="16" name="Google Shape;16;p2"/>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7" name="Google Shape;17;p2"/>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18" name="Google Shape;18;p2"/>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19" name="Google Shape;19;p2"/>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0" name="Google Shape;20;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3"/>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txBox="1"/>
          <p:nvPr>
            <p:ph type="title"/>
          </p:nvPr>
        </p:nvSpPr>
        <p:spPr>
          <a:xfrm>
            <a:off x="311700" y="814800"/>
            <a:ext cx="8571300" cy="942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p:txBody>
      </p:sp>
      <p:sp>
        <p:nvSpPr>
          <p:cNvPr id="24" name="Google Shape;24;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5" name="Shape 25"/>
        <p:cNvGrpSpPr/>
        <p:nvPr/>
      </p:nvGrpSpPr>
      <p:grpSpPr>
        <a:xfrm>
          <a:off x="0" y="0"/>
          <a:ext cx="0" cy="0"/>
          <a:chOff x="0" y="0"/>
          <a:chExt cx="0" cy="0"/>
        </a:xfrm>
      </p:grpSpPr>
      <p:sp>
        <p:nvSpPr>
          <p:cNvPr id="26" name="Google Shape;26;p4"/>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28" name="Google Shape;28;p4"/>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9" name="Google Shape;2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5"/>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2" name="Google Shape;32;p5"/>
          <p:cNvSpPr txBox="1"/>
          <p:nvPr>
            <p:ph idx="1" type="body"/>
          </p:nvPr>
        </p:nvSpPr>
        <p:spPr>
          <a:xfrm>
            <a:off x="3117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5"/>
          <p:cNvSpPr txBox="1"/>
          <p:nvPr>
            <p:ph idx="2" type="body"/>
          </p:nvPr>
        </p:nvSpPr>
        <p:spPr>
          <a:xfrm>
            <a:off x="48324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6"/>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7" name="Google Shape;3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sp>
        <p:nvSpPr>
          <p:cNvPr id="39" name="Google Shape;3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42" name="Shape 42"/>
        <p:cNvGrpSpPr/>
        <p:nvPr/>
      </p:nvGrpSpPr>
      <p:grpSpPr>
        <a:xfrm>
          <a:off x="0" y="0"/>
          <a:ext cx="0" cy="0"/>
          <a:chOff x="0" y="0"/>
          <a:chExt cx="0" cy="0"/>
        </a:xfrm>
      </p:grpSpPr>
      <p:sp>
        <p:nvSpPr>
          <p:cNvPr id="43" name="Google Shape;43;p8"/>
          <p:cNvSpPr txBox="1"/>
          <p:nvPr>
            <p:ph type="title"/>
          </p:nvPr>
        </p:nvSpPr>
        <p:spPr>
          <a:xfrm>
            <a:off x="490250" y="526350"/>
            <a:ext cx="56136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2"/>
              </a:buClr>
              <a:buSzPts val="5400"/>
              <a:buNone/>
              <a:defRPr b="0" sz="5400">
                <a:solidFill>
                  <a:schemeClr val="dk2"/>
                </a:solidFill>
              </a:defRPr>
            </a:lvl1pPr>
            <a:lvl2pPr lvl="1">
              <a:spcBef>
                <a:spcPts val="0"/>
              </a:spcBef>
              <a:spcAft>
                <a:spcPts val="0"/>
              </a:spcAft>
              <a:buClr>
                <a:schemeClr val="dk2"/>
              </a:buClr>
              <a:buSzPts val="5400"/>
              <a:buNone/>
              <a:defRPr b="0" sz="5400">
                <a:solidFill>
                  <a:schemeClr val="dk2"/>
                </a:solidFill>
              </a:defRPr>
            </a:lvl2pPr>
            <a:lvl3pPr lvl="2">
              <a:spcBef>
                <a:spcPts val="0"/>
              </a:spcBef>
              <a:spcAft>
                <a:spcPts val="0"/>
              </a:spcAft>
              <a:buClr>
                <a:schemeClr val="dk2"/>
              </a:buClr>
              <a:buSzPts val="5400"/>
              <a:buNone/>
              <a:defRPr b="0" sz="5400">
                <a:solidFill>
                  <a:schemeClr val="dk2"/>
                </a:solidFill>
              </a:defRPr>
            </a:lvl3pPr>
            <a:lvl4pPr lvl="3">
              <a:spcBef>
                <a:spcPts val="0"/>
              </a:spcBef>
              <a:spcAft>
                <a:spcPts val="0"/>
              </a:spcAft>
              <a:buClr>
                <a:schemeClr val="dk2"/>
              </a:buClr>
              <a:buSzPts val="5400"/>
              <a:buNone/>
              <a:defRPr b="0" sz="5400">
                <a:solidFill>
                  <a:schemeClr val="dk2"/>
                </a:solidFill>
              </a:defRPr>
            </a:lvl4pPr>
            <a:lvl5pPr lvl="4">
              <a:spcBef>
                <a:spcPts val="0"/>
              </a:spcBef>
              <a:spcAft>
                <a:spcPts val="0"/>
              </a:spcAft>
              <a:buClr>
                <a:schemeClr val="dk2"/>
              </a:buClr>
              <a:buSzPts val="5400"/>
              <a:buNone/>
              <a:defRPr b="0" sz="5400">
                <a:solidFill>
                  <a:schemeClr val="dk2"/>
                </a:solidFill>
              </a:defRPr>
            </a:lvl5pPr>
            <a:lvl6pPr lvl="5">
              <a:spcBef>
                <a:spcPts val="0"/>
              </a:spcBef>
              <a:spcAft>
                <a:spcPts val="0"/>
              </a:spcAft>
              <a:buClr>
                <a:schemeClr val="dk2"/>
              </a:buClr>
              <a:buSzPts val="5400"/>
              <a:buNone/>
              <a:defRPr b="0" sz="5400">
                <a:solidFill>
                  <a:schemeClr val="dk2"/>
                </a:solidFill>
              </a:defRPr>
            </a:lvl6pPr>
            <a:lvl7pPr lvl="6">
              <a:spcBef>
                <a:spcPts val="0"/>
              </a:spcBef>
              <a:spcAft>
                <a:spcPts val="0"/>
              </a:spcAft>
              <a:buClr>
                <a:schemeClr val="dk2"/>
              </a:buClr>
              <a:buSzPts val="5400"/>
              <a:buNone/>
              <a:defRPr b="0" sz="5400">
                <a:solidFill>
                  <a:schemeClr val="dk2"/>
                </a:solidFill>
              </a:defRPr>
            </a:lvl7pPr>
            <a:lvl8pPr lvl="7">
              <a:spcBef>
                <a:spcPts val="0"/>
              </a:spcBef>
              <a:spcAft>
                <a:spcPts val="0"/>
              </a:spcAft>
              <a:buClr>
                <a:schemeClr val="dk2"/>
              </a:buClr>
              <a:buSzPts val="5400"/>
              <a:buNone/>
              <a:defRPr b="0" sz="5400">
                <a:solidFill>
                  <a:schemeClr val="dk2"/>
                </a:solidFill>
              </a:defRPr>
            </a:lvl8pPr>
            <a:lvl9pPr lvl="8">
              <a:spcBef>
                <a:spcPts val="0"/>
              </a:spcBef>
              <a:spcAft>
                <a:spcPts val="0"/>
              </a:spcAft>
              <a:buClr>
                <a:schemeClr val="dk2"/>
              </a:buClr>
              <a:buSzPts val="5400"/>
              <a:buNone/>
              <a:defRPr b="0" sz="5400">
                <a:solidFill>
                  <a:schemeClr val="dk2"/>
                </a:solidFill>
              </a:defRPr>
            </a:lvl9pPr>
          </a:lstStyle>
          <a:p/>
        </p:txBody>
      </p:sp>
      <p:sp>
        <p:nvSpPr>
          <p:cNvPr id="44" name="Google Shape;4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 name="Google Shape;47;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8" name="Google Shape;48;p9"/>
          <p:cNvSpPr txBox="1"/>
          <p:nvPr>
            <p:ph type="title"/>
          </p:nvPr>
        </p:nvSpPr>
        <p:spPr>
          <a:xfrm>
            <a:off x="265500" y="1039675"/>
            <a:ext cx="4045200" cy="16758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9" name="Google Shape;49;p9"/>
          <p:cNvSpPr txBox="1"/>
          <p:nvPr>
            <p:ph idx="1" type="subTitle"/>
          </p:nvPr>
        </p:nvSpPr>
        <p:spPr>
          <a:xfrm>
            <a:off x="265500" y="27268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ph idx="1" type="body"/>
          </p:nvPr>
        </p:nvSpPr>
        <p:spPr>
          <a:xfrm>
            <a:off x="311700" y="4230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54" name="Google Shape;5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 name="Shape 55"/>
        <p:cNvGrpSpPr/>
        <p:nvPr/>
      </p:nvGrpSpPr>
      <p:grpSpPr>
        <a:xfrm>
          <a:off x="0" y="0"/>
          <a:ext cx="0" cy="0"/>
          <a:chOff x="0" y="0"/>
          <a:chExt cx="0" cy="0"/>
        </a:xfrm>
      </p:grpSpPr>
      <p:sp>
        <p:nvSpPr>
          <p:cNvPr id="56" name="Google Shape;56;p11"/>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1"/>
          <p:cNvSpPr txBox="1"/>
          <p:nvPr>
            <p:ph hasCustomPrompt="1" type="title"/>
          </p:nvPr>
        </p:nvSpPr>
        <p:spPr>
          <a:xfrm>
            <a:off x="311700" y="1304850"/>
            <a:ext cx="85206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3"/>
              </a:buClr>
              <a:buSzPts val="13000"/>
              <a:buNone/>
              <a:defRPr sz="13000">
                <a:solidFill>
                  <a:schemeClr val="accent3"/>
                </a:solidFill>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11"/>
          <p:cNvSpPr txBox="1"/>
          <p:nvPr>
            <p:ph idx="1" type="body"/>
          </p:nvPr>
        </p:nvSpPr>
        <p:spPr>
          <a:xfrm>
            <a:off x="311700" y="29956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9" name="Google Shape;5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9pPr>
          </a:lstStyle>
          <a:p/>
        </p:txBody>
      </p:sp>
      <p:sp>
        <p:nvSpPr>
          <p:cNvPr id="7" name="Google Shape;7;p1"/>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indent="-317500" lvl="1" marL="914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indent="-317500" lvl="2" marL="1371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indent="-317500" lvl="3" marL="1828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indent="-317500" lvl="4" marL="22860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indent="-317500" lvl="5" marL="27432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indent="-317500" lvl="6" marL="3200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indent="-317500" lvl="7" marL="3657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indent="-317500" lvl="8" marL="4114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3"/>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Query Processing</a:t>
            </a:r>
            <a:endParaRPr/>
          </a:p>
        </p:txBody>
      </p:sp>
      <p:sp>
        <p:nvSpPr>
          <p:cNvPr id="67" name="Google Shape;67;p13"/>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Chapter 7</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4"/>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Query Processing</a:t>
            </a:r>
            <a:endParaRPr/>
          </a:p>
        </p:txBody>
      </p:sp>
      <p:sp>
        <p:nvSpPr>
          <p:cNvPr id="73" name="Google Shape;73;p14"/>
          <p:cNvSpPr txBox="1"/>
          <p:nvPr>
            <p:ph idx="1" type="body"/>
          </p:nvPr>
        </p:nvSpPr>
        <p:spPr>
          <a:xfrm>
            <a:off x="311700" y="1266325"/>
            <a:ext cx="8520600" cy="37788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Query Processing is expressed in a high level query language such as SQL.</a:t>
            </a:r>
            <a:endParaRPr/>
          </a:p>
          <a:p>
            <a:pPr indent="0" lvl="0" marL="0" rtl="0" algn="l">
              <a:spcBef>
                <a:spcPts val="1200"/>
              </a:spcBef>
              <a:spcAft>
                <a:spcPts val="0"/>
              </a:spcAft>
              <a:buNone/>
            </a:pPr>
            <a:r>
              <a:rPr lang="en"/>
              <a:t>This query must be scanned, parsed and validated before execution.</a:t>
            </a:r>
            <a:endParaRPr/>
          </a:p>
          <a:p>
            <a:pPr indent="0" lvl="0" marL="0" rtl="0" algn="l">
              <a:spcBef>
                <a:spcPts val="1200"/>
              </a:spcBef>
              <a:spcAft>
                <a:spcPts val="0"/>
              </a:spcAft>
              <a:buNone/>
            </a:pPr>
            <a:r>
              <a:rPr lang="en"/>
              <a:t>The scanner identifies the language tokens such as SQL keywords, attributes name, relation name etc.</a:t>
            </a:r>
            <a:endParaRPr/>
          </a:p>
          <a:p>
            <a:pPr indent="0" lvl="0" marL="0" rtl="0" algn="l">
              <a:spcBef>
                <a:spcPts val="1200"/>
              </a:spcBef>
              <a:spcAft>
                <a:spcPts val="0"/>
              </a:spcAft>
              <a:buNone/>
            </a:pPr>
            <a:r>
              <a:rPr lang="en"/>
              <a:t>The parser check the query syntax to determine whether it is formulated according to the syntax rule of query language.</a:t>
            </a:r>
            <a:endParaRPr/>
          </a:p>
          <a:p>
            <a:pPr indent="0" lvl="0" marL="0" rtl="0" algn="l">
              <a:spcBef>
                <a:spcPts val="1200"/>
              </a:spcBef>
              <a:spcAft>
                <a:spcPts val="0"/>
              </a:spcAft>
              <a:buNone/>
            </a:pPr>
            <a:r>
              <a:rPr lang="en"/>
              <a:t>The query must be validating by checking that all attributes and relation names are valid and meaningful according to the schema of the particular database.</a:t>
            </a:r>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5"/>
          <p:cNvSpPr txBox="1"/>
          <p:nvPr>
            <p:ph idx="1" type="body"/>
          </p:nvPr>
        </p:nvSpPr>
        <p:spPr>
          <a:xfrm>
            <a:off x="311700" y="115625"/>
            <a:ext cx="8520600" cy="4929600"/>
          </a:xfrm>
          <a:prstGeom prst="rect">
            <a:avLst/>
          </a:prstGeom>
        </p:spPr>
        <p:txBody>
          <a:bodyPr anchorCtr="0" anchor="t" bIns="91425" lIns="91425" spcFirstLastPara="1" rIns="91425" wrap="square" tIns="91425">
            <a:noAutofit/>
          </a:bodyPr>
          <a:lstStyle/>
          <a:p>
            <a:pPr indent="-342900" lvl="0" marL="342900" rtl="0" algn="just">
              <a:lnSpc>
                <a:spcPct val="100000"/>
              </a:lnSpc>
              <a:spcBef>
                <a:spcPts val="0"/>
              </a:spcBef>
              <a:spcAft>
                <a:spcPts val="0"/>
              </a:spcAft>
              <a:buClr>
                <a:srgbClr val="000000"/>
              </a:buClr>
              <a:buSzPts val="1800"/>
              <a:buFont typeface="Noto Sans Symbols"/>
              <a:buChar char="✔"/>
            </a:pPr>
            <a:r>
              <a:rPr lang="en">
                <a:solidFill>
                  <a:srgbClr val="000000"/>
                </a:solidFill>
                <a:latin typeface="Lustria"/>
                <a:ea typeface="Lustria"/>
                <a:cs typeface="Lustria"/>
                <a:sym typeface="Lustria"/>
              </a:rPr>
              <a:t>Query processing is the procedure of selecting the best plan or strategy to be used in responding to a database request. </a:t>
            </a:r>
            <a:endParaRPr>
              <a:solidFill>
                <a:srgbClr val="000000"/>
              </a:solidFill>
              <a:latin typeface="Lustria"/>
              <a:ea typeface="Lustria"/>
              <a:cs typeface="Lustria"/>
              <a:sym typeface="Lustria"/>
            </a:endParaRPr>
          </a:p>
          <a:p>
            <a:pPr indent="-342900" lvl="0" marL="342900" rtl="0" algn="just">
              <a:lnSpc>
                <a:spcPct val="100000"/>
              </a:lnSpc>
              <a:spcBef>
                <a:spcPts val="0"/>
              </a:spcBef>
              <a:spcAft>
                <a:spcPts val="0"/>
              </a:spcAft>
              <a:buClr>
                <a:srgbClr val="000000"/>
              </a:buClr>
              <a:buSzPts val="1800"/>
              <a:buFont typeface="Noto Sans Symbols"/>
              <a:buChar char="✔"/>
            </a:pPr>
            <a:r>
              <a:rPr lang="en">
                <a:solidFill>
                  <a:srgbClr val="000000"/>
                </a:solidFill>
                <a:latin typeface="Lustria"/>
                <a:ea typeface="Lustria"/>
                <a:cs typeface="Lustria"/>
                <a:sym typeface="Lustria"/>
              </a:rPr>
              <a:t>The plan is then executed to generate a response. </a:t>
            </a:r>
            <a:endParaRPr>
              <a:solidFill>
                <a:srgbClr val="000000"/>
              </a:solidFill>
              <a:latin typeface="Lustria"/>
              <a:ea typeface="Lustria"/>
              <a:cs typeface="Lustria"/>
              <a:sym typeface="Lustria"/>
            </a:endParaRPr>
          </a:p>
          <a:p>
            <a:pPr indent="-342900" lvl="0" marL="342900" rtl="0" algn="just">
              <a:lnSpc>
                <a:spcPct val="100000"/>
              </a:lnSpc>
              <a:spcBef>
                <a:spcPts val="0"/>
              </a:spcBef>
              <a:spcAft>
                <a:spcPts val="0"/>
              </a:spcAft>
              <a:buClr>
                <a:srgbClr val="000000"/>
              </a:buClr>
              <a:buSzPts val="1800"/>
              <a:buFont typeface="Noto Sans Symbols"/>
              <a:buChar char="✔"/>
            </a:pPr>
            <a:r>
              <a:rPr lang="en">
                <a:solidFill>
                  <a:srgbClr val="000000"/>
                </a:solidFill>
                <a:latin typeface="Lustria"/>
                <a:ea typeface="Lustria"/>
                <a:cs typeface="Lustria"/>
                <a:sym typeface="Lustria"/>
              </a:rPr>
              <a:t>The component of the DBMS responsible for generating this strategy is called a query processor. It is a stepwise process. </a:t>
            </a:r>
            <a:endParaRPr>
              <a:solidFill>
                <a:srgbClr val="000000"/>
              </a:solidFill>
              <a:latin typeface="Lustria"/>
              <a:ea typeface="Lustria"/>
              <a:cs typeface="Lustria"/>
              <a:sym typeface="Lustria"/>
            </a:endParaRPr>
          </a:p>
          <a:p>
            <a:pPr indent="-342900" lvl="0" marL="342900" rtl="0" algn="just">
              <a:lnSpc>
                <a:spcPct val="100000"/>
              </a:lnSpc>
              <a:spcBef>
                <a:spcPts val="0"/>
              </a:spcBef>
              <a:spcAft>
                <a:spcPts val="0"/>
              </a:spcAft>
              <a:buClr>
                <a:srgbClr val="000000"/>
              </a:buClr>
              <a:buSzPts val="1800"/>
              <a:buFont typeface="Noto Sans Symbols"/>
              <a:buChar char="✔"/>
            </a:pPr>
            <a:r>
              <a:rPr lang="en">
                <a:solidFill>
                  <a:srgbClr val="000000"/>
                </a:solidFill>
                <a:latin typeface="Lustria"/>
                <a:ea typeface="Lustria"/>
                <a:cs typeface="Lustria"/>
                <a:sym typeface="Lustria"/>
              </a:rPr>
              <a:t>The first step is to transform the query into a standard from. </a:t>
            </a:r>
            <a:endParaRPr>
              <a:solidFill>
                <a:srgbClr val="000000"/>
              </a:solidFill>
              <a:latin typeface="Lustria"/>
              <a:ea typeface="Lustria"/>
              <a:cs typeface="Lustria"/>
              <a:sym typeface="Lustria"/>
            </a:endParaRPr>
          </a:p>
          <a:p>
            <a:pPr indent="-342900" lvl="0" marL="342900" rtl="0" algn="just">
              <a:lnSpc>
                <a:spcPct val="100000"/>
              </a:lnSpc>
              <a:spcBef>
                <a:spcPts val="0"/>
              </a:spcBef>
              <a:spcAft>
                <a:spcPts val="0"/>
              </a:spcAft>
              <a:buClr>
                <a:srgbClr val="000000"/>
              </a:buClr>
              <a:buSzPts val="1800"/>
              <a:buFont typeface="Noto Sans Symbols"/>
              <a:buChar char="✔"/>
            </a:pPr>
            <a:r>
              <a:rPr lang="en">
                <a:solidFill>
                  <a:srgbClr val="000000"/>
                </a:solidFill>
                <a:latin typeface="Lustria"/>
                <a:ea typeface="Lustria"/>
                <a:cs typeface="Lustria"/>
                <a:sym typeface="Lustria"/>
              </a:rPr>
              <a:t>For example, a query in QBE looked into by the research community.  </a:t>
            </a:r>
            <a:r>
              <a:rPr b="1" lang="en">
                <a:solidFill>
                  <a:srgbClr val="000000"/>
                </a:solidFill>
                <a:latin typeface="Lustria"/>
                <a:ea typeface="Lustria"/>
                <a:cs typeface="Lustria"/>
                <a:sym typeface="Lustria"/>
              </a:rPr>
              <a:t>Query </a:t>
            </a:r>
            <a:r>
              <a:rPr lang="en">
                <a:solidFill>
                  <a:srgbClr val="000000"/>
                </a:solidFill>
                <a:latin typeface="Lustria"/>
                <a:ea typeface="Lustria"/>
                <a:cs typeface="Lustria"/>
                <a:sym typeface="Lustria"/>
              </a:rPr>
              <a:t>may be transformed into a relational algebraic expression; the optimization is performed by substituting equivalent expressions for those in the query. </a:t>
            </a:r>
            <a:endParaRPr>
              <a:solidFill>
                <a:srgbClr val="000000"/>
              </a:solidFill>
              <a:latin typeface="Lustria"/>
              <a:ea typeface="Lustria"/>
              <a:cs typeface="Lustria"/>
              <a:sym typeface="Lustria"/>
            </a:endParaRPr>
          </a:p>
          <a:p>
            <a:pPr indent="-342900" lvl="0" marL="342900" rtl="0" algn="just">
              <a:lnSpc>
                <a:spcPct val="100000"/>
              </a:lnSpc>
              <a:spcBef>
                <a:spcPts val="0"/>
              </a:spcBef>
              <a:spcAft>
                <a:spcPts val="0"/>
              </a:spcAft>
              <a:buClr>
                <a:srgbClr val="000000"/>
              </a:buClr>
              <a:buSzPts val="1800"/>
              <a:buFont typeface="Noto Sans Symbols"/>
              <a:buChar char="✔"/>
            </a:pPr>
            <a:r>
              <a:rPr lang="en">
                <a:solidFill>
                  <a:srgbClr val="000000"/>
                </a:solidFill>
                <a:latin typeface="Lustria"/>
                <a:ea typeface="Lustria"/>
                <a:cs typeface="Lustria"/>
                <a:sym typeface="Lustria"/>
              </a:rPr>
              <a:t>In the next step a number of strategies called access pans are generated for evaluating the transformed query. </a:t>
            </a:r>
            <a:endParaRPr>
              <a:solidFill>
                <a:srgbClr val="000000"/>
              </a:solidFill>
              <a:latin typeface="Lustria"/>
              <a:ea typeface="Lustria"/>
              <a:cs typeface="Lustria"/>
              <a:sym typeface="Lustria"/>
            </a:endParaRPr>
          </a:p>
          <a:p>
            <a:pPr indent="-342900" lvl="0" marL="342900" rtl="0" algn="just">
              <a:lnSpc>
                <a:spcPct val="100000"/>
              </a:lnSpc>
              <a:spcBef>
                <a:spcPts val="0"/>
              </a:spcBef>
              <a:spcAft>
                <a:spcPts val="0"/>
              </a:spcAft>
              <a:buClr>
                <a:srgbClr val="000000"/>
              </a:buClr>
              <a:buSzPts val="1800"/>
              <a:buFont typeface="Noto Sans Symbols"/>
              <a:buChar char="✔"/>
            </a:pPr>
            <a:r>
              <a:rPr lang="en">
                <a:solidFill>
                  <a:srgbClr val="000000"/>
                </a:solidFill>
                <a:latin typeface="Lustria"/>
                <a:ea typeface="Lustria"/>
                <a:cs typeface="Lustria"/>
                <a:sym typeface="Lustria"/>
              </a:rPr>
              <a:t>The physical characteristics of the data and any supporting access method are taken into account in generating alternate access pans. </a:t>
            </a:r>
            <a:endParaRPr>
              <a:solidFill>
                <a:srgbClr val="000000"/>
              </a:solidFill>
              <a:latin typeface="Lustria"/>
              <a:ea typeface="Lustria"/>
              <a:cs typeface="Lustria"/>
              <a:sym typeface="Lustria"/>
            </a:endParaRPr>
          </a:p>
          <a:p>
            <a:pPr indent="-342900" lvl="0" marL="342900" rtl="0" algn="just">
              <a:lnSpc>
                <a:spcPct val="100000"/>
              </a:lnSpc>
              <a:spcBef>
                <a:spcPts val="0"/>
              </a:spcBef>
              <a:spcAft>
                <a:spcPts val="0"/>
              </a:spcAft>
              <a:buClr>
                <a:srgbClr val="000000"/>
              </a:buClr>
              <a:buSzPts val="1800"/>
              <a:buFont typeface="Noto Sans Symbols"/>
              <a:buChar char="✔"/>
            </a:pPr>
            <a:r>
              <a:rPr lang="en">
                <a:solidFill>
                  <a:srgbClr val="000000"/>
                </a:solidFill>
                <a:latin typeface="Lustria"/>
                <a:ea typeface="Lustria"/>
                <a:cs typeface="Lustria"/>
                <a:sym typeface="Lustria"/>
              </a:rPr>
              <a:t>The cost of each access plan is estimated and the optimal one is chosen and executed.</a:t>
            </a:r>
            <a:endParaRPr>
              <a:solidFill>
                <a:srgbClr val="000000"/>
              </a:solidFill>
              <a:latin typeface="Lustria"/>
              <a:ea typeface="Lustria"/>
              <a:cs typeface="Lustria"/>
              <a:sym typeface="Lustria"/>
            </a:endParaRPr>
          </a:p>
          <a:p>
            <a:pPr indent="0" lvl="0" marL="0" rtl="0" algn="l">
              <a:spcBef>
                <a:spcPts val="0"/>
              </a:spcBef>
              <a:spcAft>
                <a:spcPts val="1200"/>
              </a:spcAft>
              <a:buNone/>
            </a:pPr>
            <a:r>
              <a:t/>
            </a:r>
            <a:endParaRPr sz="2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6"/>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Objective of Query Processing</a:t>
            </a:r>
            <a:endParaRPr/>
          </a:p>
        </p:txBody>
      </p:sp>
      <p:sp>
        <p:nvSpPr>
          <p:cNvPr id="84" name="Google Shape;84;p16"/>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228600" rtl="0" algn="l">
              <a:lnSpc>
                <a:spcPct val="100000"/>
              </a:lnSpc>
              <a:spcBef>
                <a:spcPts val="0"/>
              </a:spcBef>
              <a:spcAft>
                <a:spcPts val="0"/>
              </a:spcAft>
              <a:buNone/>
            </a:pPr>
            <a:r>
              <a:rPr lang="en" sz="2500">
                <a:solidFill>
                  <a:srgbClr val="000000"/>
                </a:solidFill>
                <a:latin typeface="Lustria"/>
                <a:ea typeface="Lustria"/>
                <a:cs typeface="Lustria"/>
                <a:sym typeface="Lustria"/>
              </a:rPr>
              <a:t>The aim of query processing is to transform a query written in a high level language into a correct and efficient execution strategy expressed in a low level language and execute the strategy to retrieve the data.</a:t>
            </a:r>
            <a:endParaRPr sz="2500">
              <a:solidFill>
                <a:srgbClr val="000000"/>
              </a:solidFill>
              <a:latin typeface="Lustria"/>
              <a:ea typeface="Lustria"/>
              <a:cs typeface="Lustria"/>
              <a:sym typeface="Lustria"/>
            </a:endParaRPr>
          </a:p>
          <a:p>
            <a:pPr indent="0" lvl="0" marL="0" rtl="0" algn="l">
              <a:spcBef>
                <a:spcPts val="0"/>
              </a:spcBef>
              <a:spcAft>
                <a:spcPts val="1200"/>
              </a:spcAft>
              <a:buNone/>
            </a:pPr>
            <a:r>
              <a:t/>
            </a:r>
            <a:endParaRPr sz="33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7"/>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Basic Steps in Query Processing</a:t>
            </a:r>
            <a:endParaRPr/>
          </a:p>
        </p:txBody>
      </p:sp>
      <p:sp>
        <p:nvSpPr>
          <p:cNvPr id="90" name="Google Shape;90;p17"/>
          <p:cNvSpPr txBox="1"/>
          <p:nvPr>
            <p:ph idx="1" type="body"/>
          </p:nvPr>
        </p:nvSpPr>
        <p:spPr>
          <a:xfrm>
            <a:off x="311700" y="1266325"/>
            <a:ext cx="8520600" cy="3302700"/>
          </a:xfrm>
          <a:prstGeom prst="rect">
            <a:avLst/>
          </a:prstGeom>
        </p:spPr>
        <p:txBody>
          <a:bodyPr anchorCtr="0" anchor="t" bIns="91425" lIns="91425" spcFirstLastPara="1" rIns="91425" wrap="square" tIns="91425">
            <a:noAutofit/>
          </a:bodyPr>
          <a:lstStyle/>
          <a:p>
            <a:pPr indent="0" lvl="0" marL="0" rtl="0" algn="just">
              <a:spcBef>
                <a:spcPts val="1200"/>
              </a:spcBef>
              <a:spcAft>
                <a:spcPts val="0"/>
              </a:spcAft>
              <a:buNone/>
            </a:pPr>
            <a:r>
              <a:rPr lang="en" sz="2200">
                <a:solidFill>
                  <a:srgbClr val="333333"/>
                </a:solidFill>
                <a:highlight>
                  <a:srgbClr val="FFFFFF"/>
                </a:highlight>
                <a:latin typeface="Roboto"/>
                <a:ea typeface="Roboto"/>
                <a:cs typeface="Roboto"/>
                <a:sym typeface="Roboto"/>
              </a:rPr>
              <a:t>Query Processing is the activity performed in extracting data from the database. </a:t>
            </a:r>
            <a:endParaRPr sz="2200">
              <a:solidFill>
                <a:srgbClr val="333333"/>
              </a:solidFill>
              <a:highlight>
                <a:srgbClr val="FFFFFF"/>
              </a:highlight>
              <a:latin typeface="Roboto"/>
              <a:ea typeface="Roboto"/>
              <a:cs typeface="Roboto"/>
              <a:sym typeface="Roboto"/>
            </a:endParaRPr>
          </a:p>
          <a:p>
            <a:pPr indent="0" lvl="0" marL="0" rtl="0" algn="just">
              <a:spcBef>
                <a:spcPts val="1200"/>
              </a:spcBef>
              <a:spcAft>
                <a:spcPts val="0"/>
              </a:spcAft>
              <a:buNone/>
            </a:pPr>
            <a:r>
              <a:rPr lang="en" sz="2200">
                <a:solidFill>
                  <a:srgbClr val="333333"/>
                </a:solidFill>
                <a:highlight>
                  <a:srgbClr val="FFFFFF"/>
                </a:highlight>
                <a:latin typeface="Roboto"/>
                <a:ea typeface="Roboto"/>
                <a:cs typeface="Roboto"/>
                <a:sym typeface="Roboto"/>
              </a:rPr>
              <a:t>In query processing, it takes various steps for fetching the data from the database. The steps involved are:</a:t>
            </a:r>
            <a:endParaRPr sz="2200">
              <a:solidFill>
                <a:srgbClr val="333333"/>
              </a:solidFill>
              <a:highlight>
                <a:srgbClr val="FFFFFF"/>
              </a:highlight>
              <a:latin typeface="Roboto"/>
              <a:ea typeface="Roboto"/>
              <a:cs typeface="Roboto"/>
              <a:sym typeface="Roboto"/>
            </a:endParaRPr>
          </a:p>
          <a:p>
            <a:pPr indent="-368300" lvl="0" marL="457200" marR="25400" rtl="0" algn="l">
              <a:lnSpc>
                <a:spcPct val="156250"/>
              </a:lnSpc>
              <a:spcBef>
                <a:spcPts val="1500"/>
              </a:spcBef>
              <a:spcAft>
                <a:spcPts val="0"/>
              </a:spcAft>
              <a:buClr>
                <a:srgbClr val="000000"/>
              </a:buClr>
              <a:buSzPts val="2200"/>
              <a:buFont typeface="Roboto"/>
              <a:buAutoNum type="arabicPeriod"/>
            </a:pPr>
            <a:r>
              <a:rPr lang="en" sz="2200">
                <a:solidFill>
                  <a:srgbClr val="000000"/>
                </a:solidFill>
                <a:highlight>
                  <a:srgbClr val="FFFFFF"/>
                </a:highlight>
                <a:latin typeface="Roboto"/>
                <a:ea typeface="Roboto"/>
                <a:cs typeface="Roboto"/>
                <a:sym typeface="Roboto"/>
              </a:rPr>
              <a:t>Parsing and translation</a:t>
            </a:r>
            <a:endParaRPr sz="2200">
              <a:solidFill>
                <a:srgbClr val="000000"/>
              </a:solidFill>
              <a:highlight>
                <a:srgbClr val="FFFFFF"/>
              </a:highlight>
              <a:latin typeface="Roboto"/>
              <a:ea typeface="Roboto"/>
              <a:cs typeface="Roboto"/>
              <a:sym typeface="Roboto"/>
            </a:endParaRPr>
          </a:p>
          <a:p>
            <a:pPr indent="-368300" lvl="0" marL="457200" marR="25400" rtl="0" algn="l">
              <a:lnSpc>
                <a:spcPct val="156250"/>
              </a:lnSpc>
              <a:spcBef>
                <a:spcPts val="0"/>
              </a:spcBef>
              <a:spcAft>
                <a:spcPts val="0"/>
              </a:spcAft>
              <a:buClr>
                <a:srgbClr val="000000"/>
              </a:buClr>
              <a:buSzPts val="2200"/>
              <a:buFont typeface="Roboto"/>
              <a:buAutoNum type="arabicPeriod"/>
            </a:pPr>
            <a:r>
              <a:rPr lang="en" sz="2200">
                <a:solidFill>
                  <a:srgbClr val="000000"/>
                </a:solidFill>
                <a:highlight>
                  <a:srgbClr val="FFFFFF"/>
                </a:highlight>
                <a:latin typeface="Roboto"/>
                <a:ea typeface="Roboto"/>
                <a:cs typeface="Roboto"/>
                <a:sym typeface="Roboto"/>
              </a:rPr>
              <a:t>Optimization</a:t>
            </a:r>
            <a:endParaRPr sz="2200">
              <a:solidFill>
                <a:srgbClr val="000000"/>
              </a:solidFill>
              <a:highlight>
                <a:srgbClr val="FFFFFF"/>
              </a:highlight>
              <a:latin typeface="Roboto"/>
              <a:ea typeface="Roboto"/>
              <a:cs typeface="Roboto"/>
              <a:sym typeface="Roboto"/>
            </a:endParaRPr>
          </a:p>
          <a:p>
            <a:pPr indent="-368300" lvl="0" marL="457200" marR="25400" rtl="0" algn="l">
              <a:lnSpc>
                <a:spcPct val="156250"/>
              </a:lnSpc>
              <a:spcBef>
                <a:spcPts val="0"/>
              </a:spcBef>
              <a:spcAft>
                <a:spcPts val="0"/>
              </a:spcAft>
              <a:buClr>
                <a:srgbClr val="000000"/>
              </a:buClr>
              <a:buSzPts val="2200"/>
              <a:buFont typeface="Roboto"/>
              <a:buAutoNum type="arabicPeriod"/>
            </a:pPr>
            <a:r>
              <a:rPr lang="en" sz="2200">
                <a:solidFill>
                  <a:srgbClr val="000000"/>
                </a:solidFill>
                <a:highlight>
                  <a:srgbClr val="FFFFFF"/>
                </a:highlight>
                <a:latin typeface="Roboto"/>
                <a:ea typeface="Roboto"/>
                <a:cs typeface="Roboto"/>
                <a:sym typeface="Roboto"/>
              </a:rPr>
              <a:t>Evaluation</a:t>
            </a:r>
            <a:endParaRPr sz="2200">
              <a:solidFill>
                <a:srgbClr val="000000"/>
              </a:solidFill>
              <a:highlight>
                <a:srgbClr val="FFFFFF"/>
              </a:highlight>
              <a:latin typeface="Roboto"/>
              <a:ea typeface="Roboto"/>
              <a:cs typeface="Roboto"/>
              <a:sym typeface="Roboto"/>
            </a:endParaRPr>
          </a:p>
          <a:p>
            <a:pPr indent="0" lvl="0" marL="0" rtl="0" algn="l">
              <a:spcBef>
                <a:spcPts val="1200"/>
              </a:spcBef>
              <a:spcAft>
                <a:spcPts val="1200"/>
              </a:spcAft>
              <a:buNone/>
            </a:pPr>
            <a:r>
              <a:t/>
            </a:r>
            <a:endParaRPr sz="28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8"/>
          <p:cNvSpPr txBox="1"/>
          <p:nvPr>
            <p:ph type="title"/>
          </p:nvPr>
        </p:nvSpPr>
        <p:spPr>
          <a:xfrm>
            <a:off x="311700" y="0"/>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Basic Steps in Query Processing</a:t>
            </a:r>
            <a:endParaRPr/>
          </a:p>
        </p:txBody>
      </p:sp>
      <p:pic>
        <p:nvPicPr>
          <p:cNvPr id="96" name="Google Shape;96;p18"/>
          <p:cNvPicPr preferRelativeResize="0"/>
          <p:nvPr/>
        </p:nvPicPr>
        <p:blipFill>
          <a:blip r:embed="rId3">
            <a:alphaModFix/>
          </a:blip>
          <a:stretch>
            <a:fillRect/>
          </a:stretch>
        </p:blipFill>
        <p:spPr>
          <a:xfrm>
            <a:off x="730450" y="728627"/>
            <a:ext cx="5754425" cy="42621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9"/>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434340" lvl="0" marL="457200" rtl="0" algn="l">
              <a:spcBef>
                <a:spcPts val="0"/>
              </a:spcBef>
              <a:spcAft>
                <a:spcPts val="0"/>
              </a:spcAft>
              <a:buSzPct val="100000"/>
              <a:buAutoNum type="arabicPeriod"/>
            </a:pPr>
            <a:r>
              <a:rPr lang="en"/>
              <a:t>Parsing and Translation</a:t>
            </a:r>
            <a:endParaRPr/>
          </a:p>
        </p:txBody>
      </p:sp>
      <p:sp>
        <p:nvSpPr>
          <p:cNvPr id="102" name="Google Shape;102;p19"/>
          <p:cNvSpPr txBox="1"/>
          <p:nvPr>
            <p:ph idx="1" type="body"/>
          </p:nvPr>
        </p:nvSpPr>
        <p:spPr>
          <a:xfrm>
            <a:off x="311700" y="1266325"/>
            <a:ext cx="8520600" cy="33027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sz="2000">
                <a:solidFill>
                  <a:srgbClr val="333333"/>
                </a:solidFill>
                <a:highlight>
                  <a:srgbClr val="FFFFFF"/>
                </a:highlight>
                <a:latin typeface="Roboto"/>
                <a:ea typeface="Roboto"/>
                <a:cs typeface="Roboto"/>
                <a:sym typeface="Roboto"/>
              </a:rPr>
              <a:t>As query processing includes certain activities for data retrieval. Initially, the given user queries get translated in high-level database languages such as SQL. </a:t>
            </a:r>
            <a:endParaRPr sz="2000">
              <a:solidFill>
                <a:srgbClr val="333333"/>
              </a:solidFill>
              <a:highlight>
                <a:srgbClr val="FFFFFF"/>
              </a:highlight>
              <a:latin typeface="Roboto"/>
              <a:ea typeface="Roboto"/>
              <a:cs typeface="Roboto"/>
              <a:sym typeface="Roboto"/>
            </a:endParaRPr>
          </a:p>
          <a:p>
            <a:pPr indent="0" lvl="0" marL="0" rtl="0" algn="l">
              <a:spcBef>
                <a:spcPts val="1200"/>
              </a:spcBef>
              <a:spcAft>
                <a:spcPts val="0"/>
              </a:spcAft>
              <a:buNone/>
            </a:pPr>
            <a:r>
              <a:rPr lang="en" sz="2000">
                <a:solidFill>
                  <a:srgbClr val="333333"/>
                </a:solidFill>
                <a:highlight>
                  <a:srgbClr val="FFFFFF"/>
                </a:highlight>
                <a:latin typeface="Roboto"/>
                <a:ea typeface="Roboto"/>
                <a:cs typeface="Roboto"/>
                <a:sym typeface="Roboto"/>
              </a:rPr>
              <a:t>It gets translated into expressions that can be further used at the physical level of the file system. </a:t>
            </a:r>
            <a:endParaRPr sz="2000">
              <a:solidFill>
                <a:srgbClr val="333333"/>
              </a:solidFill>
              <a:highlight>
                <a:srgbClr val="FFFFFF"/>
              </a:highlight>
              <a:latin typeface="Roboto"/>
              <a:ea typeface="Roboto"/>
              <a:cs typeface="Roboto"/>
              <a:sym typeface="Roboto"/>
            </a:endParaRPr>
          </a:p>
          <a:p>
            <a:pPr indent="0" lvl="0" marL="0" rtl="0" algn="l">
              <a:spcBef>
                <a:spcPts val="1200"/>
              </a:spcBef>
              <a:spcAft>
                <a:spcPts val="0"/>
              </a:spcAft>
              <a:buNone/>
            </a:pPr>
            <a:r>
              <a:rPr lang="en" sz="2000">
                <a:solidFill>
                  <a:srgbClr val="333333"/>
                </a:solidFill>
                <a:highlight>
                  <a:srgbClr val="FFFFFF"/>
                </a:highlight>
                <a:latin typeface="Roboto"/>
                <a:ea typeface="Roboto"/>
                <a:cs typeface="Roboto"/>
                <a:sym typeface="Roboto"/>
              </a:rPr>
              <a:t>After this, the actual evaluation of the queries and a variety of query -optimizing transformations and takes place. </a:t>
            </a:r>
            <a:endParaRPr sz="2000">
              <a:solidFill>
                <a:srgbClr val="333333"/>
              </a:solidFill>
              <a:highlight>
                <a:srgbClr val="FFFFFF"/>
              </a:highlight>
              <a:latin typeface="Roboto"/>
              <a:ea typeface="Roboto"/>
              <a:cs typeface="Roboto"/>
              <a:sym typeface="Roboto"/>
            </a:endParaRPr>
          </a:p>
          <a:p>
            <a:pPr indent="0" lvl="0" marL="0" rtl="0" algn="l">
              <a:spcBef>
                <a:spcPts val="1200"/>
              </a:spcBef>
              <a:spcAft>
                <a:spcPts val="1200"/>
              </a:spcAft>
              <a:buNone/>
            </a:pPr>
            <a:r>
              <a:rPr lang="en" sz="2000">
                <a:solidFill>
                  <a:srgbClr val="333333"/>
                </a:solidFill>
                <a:highlight>
                  <a:srgbClr val="FFFFFF"/>
                </a:highlight>
                <a:latin typeface="Roboto"/>
                <a:ea typeface="Roboto"/>
                <a:cs typeface="Roboto"/>
                <a:sym typeface="Roboto"/>
              </a:rPr>
              <a:t>Thus before processing a query, a computer system needs to translate the query into a human-readable and understandable language. </a:t>
            </a:r>
            <a:endParaRPr sz="26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0"/>
          <p:cNvSpPr txBox="1"/>
          <p:nvPr>
            <p:ph type="title"/>
          </p:nvPr>
        </p:nvSpPr>
        <p:spPr>
          <a:xfrm>
            <a:off x="80475" y="0"/>
            <a:ext cx="8520600" cy="707400"/>
          </a:xfrm>
          <a:prstGeom prst="rect">
            <a:avLst/>
          </a:prstGeom>
        </p:spPr>
        <p:txBody>
          <a:bodyPr anchorCtr="0" anchor="t" bIns="91425" lIns="91425" spcFirstLastPara="1" rIns="91425" wrap="square" tIns="91425">
            <a:normAutofit fontScale="90000"/>
          </a:bodyPr>
          <a:lstStyle/>
          <a:p>
            <a:pPr indent="-434340" lvl="0" marL="457200" rtl="0" algn="l">
              <a:spcBef>
                <a:spcPts val="0"/>
              </a:spcBef>
              <a:spcAft>
                <a:spcPts val="0"/>
              </a:spcAft>
              <a:buSzPct val="100000"/>
              <a:buAutoNum type="arabicPeriod"/>
            </a:pPr>
            <a:r>
              <a:rPr lang="en"/>
              <a:t>Parsing and Translation</a:t>
            </a:r>
            <a:endParaRPr/>
          </a:p>
        </p:txBody>
      </p:sp>
      <p:sp>
        <p:nvSpPr>
          <p:cNvPr id="108" name="Google Shape;108;p20"/>
          <p:cNvSpPr txBox="1"/>
          <p:nvPr>
            <p:ph idx="1" type="body"/>
          </p:nvPr>
        </p:nvSpPr>
        <p:spPr>
          <a:xfrm>
            <a:off x="80475" y="641125"/>
            <a:ext cx="9021600" cy="443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900">
                <a:solidFill>
                  <a:srgbClr val="333333"/>
                </a:solidFill>
                <a:highlight>
                  <a:srgbClr val="FFFFFF"/>
                </a:highlight>
                <a:latin typeface="Roboto"/>
                <a:ea typeface="Roboto"/>
                <a:cs typeface="Roboto"/>
                <a:sym typeface="Roboto"/>
              </a:rPr>
              <a:t>Consequently, SQL or Structured Query Language is the best suitable choice for humans. But, it is not perfectly suitable for the internal representation of the query to the system. </a:t>
            </a:r>
            <a:endParaRPr sz="1900">
              <a:solidFill>
                <a:srgbClr val="333333"/>
              </a:solidFill>
              <a:highlight>
                <a:srgbClr val="FFFFFF"/>
              </a:highlight>
              <a:latin typeface="Roboto"/>
              <a:ea typeface="Roboto"/>
              <a:cs typeface="Roboto"/>
              <a:sym typeface="Roboto"/>
            </a:endParaRPr>
          </a:p>
          <a:p>
            <a:pPr indent="0" lvl="0" marL="0" rtl="0" algn="l">
              <a:spcBef>
                <a:spcPts val="1200"/>
              </a:spcBef>
              <a:spcAft>
                <a:spcPts val="0"/>
              </a:spcAft>
              <a:buNone/>
            </a:pPr>
            <a:r>
              <a:rPr lang="en" sz="1900">
                <a:solidFill>
                  <a:srgbClr val="333333"/>
                </a:solidFill>
                <a:highlight>
                  <a:srgbClr val="FFFFFF"/>
                </a:highlight>
                <a:latin typeface="Roboto"/>
                <a:ea typeface="Roboto"/>
                <a:cs typeface="Roboto"/>
                <a:sym typeface="Roboto"/>
              </a:rPr>
              <a:t>Relational algebra is well suited for the internal representation of a query. </a:t>
            </a:r>
            <a:endParaRPr sz="1900">
              <a:solidFill>
                <a:srgbClr val="333333"/>
              </a:solidFill>
              <a:highlight>
                <a:srgbClr val="FFFFFF"/>
              </a:highlight>
              <a:latin typeface="Roboto"/>
              <a:ea typeface="Roboto"/>
              <a:cs typeface="Roboto"/>
              <a:sym typeface="Roboto"/>
            </a:endParaRPr>
          </a:p>
          <a:p>
            <a:pPr indent="0" lvl="0" marL="0" rtl="0" algn="l">
              <a:spcBef>
                <a:spcPts val="1200"/>
              </a:spcBef>
              <a:spcAft>
                <a:spcPts val="0"/>
              </a:spcAft>
              <a:buNone/>
            </a:pPr>
            <a:r>
              <a:rPr lang="en" sz="1900">
                <a:solidFill>
                  <a:srgbClr val="333333"/>
                </a:solidFill>
                <a:highlight>
                  <a:srgbClr val="FFFFFF"/>
                </a:highlight>
                <a:latin typeface="Roboto"/>
                <a:ea typeface="Roboto"/>
                <a:cs typeface="Roboto"/>
                <a:sym typeface="Roboto"/>
              </a:rPr>
              <a:t>The translation process in query processing is similar to the parser of a query. </a:t>
            </a:r>
            <a:endParaRPr sz="1900">
              <a:solidFill>
                <a:srgbClr val="333333"/>
              </a:solidFill>
              <a:highlight>
                <a:srgbClr val="FFFFFF"/>
              </a:highlight>
              <a:latin typeface="Roboto"/>
              <a:ea typeface="Roboto"/>
              <a:cs typeface="Roboto"/>
              <a:sym typeface="Roboto"/>
            </a:endParaRPr>
          </a:p>
          <a:p>
            <a:pPr indent="0" lvl="0" marL="0" rtl="0" algn="l">
              <a:spcBef>
                <a:spcPts val="1200"/>
              </a:spcBef>
              <a:spcAft>
                <a:spcPts val="0"/>
              </a:spcAft>
              <a:buNone/>
            </a:pPr>
            <a:r>
              <a:rPr lang="en" sz="1900">
                <a:solidFill>
                  <a:srgbClr val="333333"/>
                </a:solidFill>
                <a:highlight>
                  <a:srgbClr val="FFFFFF"/>
                </a:highlight>
                <a:latin typeface="Roboto"/>
                <a:ea typeface="Roboto"/>
                <a:cs typeface="Roboto"/>
                <a:sym typeface="Roboto"/>
              </a:rPr>
              <a:t>When a user executes any query, for generating the internal form of the query, the parser in the system checks the syntax of the query, verifies the name of the relation in the database, the tuple, and finally the required attribute value. </a:t>
            </a:r>
            <a:endParaRPr sz="1900">
              <a:solidFill>
                <a:srgbClr val="333333"/>
              </a:solidFill>
              <a:highlight>
                <a:srgbClr val="FFFFFF"/>
              </a:highlight>
              <a:latin typeface="Roboto"/>
              <a:ea typeface="Roboto"/>
              <a:cs typeface="Roboto"/>
              <a:sym typeface="Roboto"/>
            </a:endParaRPr>
          </a:p>
          <a:p>
            <a:pPr indent="0" lvl="0" marL="0" rtl="0" algn="l">
              <a:spcBef>
                <a:spcPts val="1200"/>
              </a:spcBef>
              <a:spcAft>
                <a:spcPts val="0"/>
              </a:spcAft>
              <a:buNone/>
            </a:pPr>
            <a:r>
              <a:rPr lang="en" sz="1900">
                <a:solidFill>
                  <a:srgbClr val="333333"/>
                </a:solidFill>
                <a:highlight>
                  <a:srgbClr val="FFFFFF"/>
                </a:highlight>
                <a:latin typeface="Roboto"/>
                <a:ea typeface="Roboto"/>
                <a:cs typeface="Roboto"/>
                <a:sym typeface="Roboto"/>
              </a:rPr>
              <a:t>The parser creates a tree of the query, known as 'parse-tree.' Further, translate it into the form of relational algebra. With this, it evenly replaces all the use of the views when used in the query.</a:t>
            </a:r>
            <a:endParaRPr sz="2500"/>
          </a:p>
          <a:p>
            <a:pPr indent="0" lvl="0" marL="0" rtl="0" algn="l">
              <a:spcBef>
                <a:spcPts val="1200"/>
              </a:spcBef>
              <a:spcAft>
                <a:spcPts val="1200"/>
              </a:spcAft>
              <a:buNone/>
            </a:pPr>
            <a:r>
              <a:t/>
            </a:r>
            <a:endParaRPr sz="2700">
              <a:solidFill>
                <a:srgbClr val="333333"/>
              </a:solidFill>
              <a:highlight>
                <a:srgbClr val="FFFFFF"/>
              </a:highlight>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1"/>
          <p:cNvSpPr txBox="1"/>
          <p:nvPr>
            <p:ph type="title"/>
          </p:nvPr>
        </p:nvSpPr>
        <p:spPr>
          <a:xfrm>
            <a:off x="175075" y="0"/>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2. Evaluation</a:t>
            </a:r>
            <a:endParaRPr/>
          </a:p>
        </p:txBody>
      </p:sp>
      <p:sp>
        <p:nvSpPr>
          <p:cNvPr id="114" name="Google Shape;114;p21"/>
          <p:cNvSpPr txBox="1"/>
          <p:nvPr>
            <p:ph idx="1" type="body"/>
          </p:nvPr>
        </p:nvSpPr>
        <p:spPr>
          <a:xfrm>
            <a:off x="52550" y="588575"/>
            <a:ext cx="9039000" cy="4477500"/>
          </a:xfrm>
          <a:prstGeom prst="rect">
            <a:avLst/>
          </a:prstGeom>
        </p:spPr>
        <p:txBody>
          <a:bodyPr anchorCtr="0" anchor="t" bIns="91425" lIns="91425" spcFirstLastPara="1" rIns="91425" wrap="square" tIns="91425">
            <a:noAutofit/>
          </a:bodyPr>
          <a:lstStyle/>
          <a:p>
            <a:pPr indent="0" lvl="0" marL="0" rtl="0" algn="just">
              <a:lnSpc>
                <a:spcPct val="105000"/>
              </a:lnSpc>
              <a:spcBef>
                <a:spcPts val="1200"/>
              </a:spcBef>
              <a:spcAft>
                <a:spcPts val="0"/>
              </a:spcAft>
              <a:buNone/>
            </a:pPr>
            <a:r>
              <a:rPr lang="en" sz="1500">
                <a:solidFill>
                  <a:srgbClr val="333333"/>
                </a:solidFill>
                <a:highlight>
                  <a:srgbClr val="FFFFFF"/>
                </a:highlight>
                <a:latin typeface="Roboto"/>
                <a:ea typeface="Roboto"/>
                <a:cs typeface="Roboto"/>
                <a:sym typeface="Roboto"/>
              </a:rPr>
              <a:t>For this, with addition to the relational algebra translation, it is required to annotate the translated relational algebra expression with the instructions used for specifying and evaluating each operation. Thus, after translating the user query, the system executes a query evaluation plan.</a:t>
            </a:r>
            <a:endParaRPr sz="1500">
              <a:solidFill>
                <a:srgbClr val="333333"/>
              </a:solidFill>
              <a:highlight>
                <a:srgbClr val="FFFFFF"/>
              </a:highlight>
              <a:latin typeface="Roboto"/>
              <a:ea typeface="Roboto"/>
              <a:cs typeface="Roboto"/>
              <a:sym typeface="Roboto"/>
            </a:endParaRPr>
          </a:p>
          <a:p>
            <a:pPr indent="0" lvl="0" marL="0" rtl="0" algn="just">
              <a:lnSpc>
                <a:spcPct val="120000"/>
              </a:lnSpc>
              <a:spcBef>
                <a:spcPts val="1400"/>
              </a:spcBef>
              <a:spcAft>
                <a:spcPts val="0"/>
              </a:spcAft>
              <a:buNone/>
            </a:pPr>
            <a:r>
              <a:rPr lang="en" sz="1900">
                <a:solidFill>
                  <a:srgbClr val="610B4B"/>
                </a:solidFill>
                <a:highlight>
                  <a:srgbClr val="FFFFFF"/>
                </a:highlight>
                <a:latin typeface="Arial"/>
                <a:ea typeface="Arial"/>
                <a:cs typeface="Arial"/>
                <a:sym typeface="Arial"/>
              </a:rPr>
              <a:t>Query Evaluation Plan</a:t>
            </a:r>
            <a:endParaRPr sz="1900">
              <a:solidFill>
                <a:srgbClr val="610B4B"/>
              </a:solidFill>
              <a:highlight>
                <a:srgbClr val="FFFFFF"/>
              </a:highlight>
              <a:latin typeface="Arial"/>
              <a:ea typeface="Arial"/>
              <a:cs typeface="Arial"/>
              <a:sym typeface="Arial"/>
            </a:endParaRPr>
          </a:p>
          <a:p>
            <a:pPr indent="-323850" lvl="0" marL="457200" marR="25400" rtl="0" algn="l">
              <a:lnSpc>
                <a:spcPct val="146250"/>
              </a:lnSpc>
              <a:spcBef>
                <a:spcPts val="1500"/>
              </a:spcBef>
              <a:spcAft>
                <a:spcPts val="0"/>
              </a:spcAft>
              <a:buClr>
                <a:srgbClr val="000000"/>
              </a:buClr>
              <a:buSzPts val="1500"/>
              <a:buFont typeface="Roboto"/>
              <a:buChar char="○"/>
            </a:pPr>
            <a:r>
              <a:rPr lang="en" sz="1500">
                <a:solidFill>
                  <a:srgbClr val="000000"/>
                </a:solidFill>
                <a:highlight>
                  <a:srgbClr val="FFFFFF"/>
                </a:highlight>
                <a:latin typeface="Roboto"/>
                <a:ea typeface="Roboto"/>
                <a:cs typeface="Roboto"/>
                <a:sym typeface="Roboto"/>
              </a:rPr>
              <a:t>In order to fully evaluate a query, the system needs to construct a query evaluation plan.</a:t>
            </a:r>
            <a:endParaRPr sz="1500">
              <a:solidFill>
                <a:srgbClr val="000000"/>
              </a:solidFill>
              <a:highlight>
                <a:srgbClr val="FFFFFF"/>
              </a:highlight>
              <a:latin typeface="Roboto"/>
              <a:ea typeface="Roboto"/>
              <a:cs typeface="Roboto"/>
              <a:sym typeface="Roboto"/>
            </a:endParaRPr>
          </a:p>
          <a:p>
            <a:pPr indent="-323850" lvl="0" marL="457200" marR="25400" rtl="0" algn="l">
              <a:lnSpc>
                <a:spcPct val="146250"/>
              </a:lnSpc>
              <a:spcBef>
                <a:spcPts val="0"/>
              </a:spcBef>
              <a:spcAft>
                <a:spcPts val="0"/>
              </a:spcAft>
              <a:buClr>
                <a:srgbClr val="000000"/>
              </a:buClr>
              <a:buSzPts val="1500"/>
              <a:buFont typeface="Roboto"/>
              <a:buChar char="○"/>
            </a:pPr>
            <a:r>
              <a:rPr lang="en" sz="1500">
                <a:solidFill>
                  <a:srgbClr val="000000"/>
                </a:solidFill>
                <a:highlight>
                  <a:srgbClr val="FFFFFF"/>
                </a:highlight>
                <a:latin typeface="Roboto"/>
                <a:ea typeface="Roboto"/>
                <a:cs typeface="Roboto"/>
                <a:sym typeface="Roboto"/>
              </a:rPr>
              <a:t>The annotations in the evaluation plan may refer to the algorithms to be used for the particular index or the specific operations.</a:t>
            </a:r>
            <a:endParaRPr sz="1500">
              <a:solidFill>
                <a:srgbClr val="000000"/>
              </a:solidFill>
              <a:highlight>
                <a:srgbClr val="FFFFFF"/>
              </a:highlight>
              <a:latin typeface="Roboto"/>
              <a:ea typeface="Roboto"/>
              <a:cs typeface="Roboto"/>
              <a:sym typeface="Roboto"/>
            </a:endParaRPr>
          </a:p>
          <a:p>
            <a:pPr indent="-323850" lvl="0" marL="457200" marR="25400" rtl="0" algn="l">
              <a:lnSpc>
                <a:spcPct val="146250"/>
              </a:lnSpc>
              <a:spcBef>
                <a:spcPts val="0"/>
              </a:spcBef>
              <a:spcAft>
                <a:spcPts val="0"/>
              </a:spcAft>
              <a:buClr>
                <a:srgbClr val="000000"/>
              </a:buClr>
              <a:buSzPts val="1500"/>
              <a:buFont typeface="Roboto"/>
              <a:buChar char="○"/>
            </a:pPr>
            <a:r>
              <a:rPr lang="en" sz="1500">
                <a:solidFill>
                  <a:srgbClr val="000000"/>
                </a:solidFill>
                <a:highlight>
                  <a:srgbClr val="FFFFFF"/>
                </a:highlight>
                <a:latin typeface="Roboto"/>
                <a:ea typeface="Roboto"/>
                <a:cs typeface="Roboto"/>
                <a:sym typeface="Roboto"/>
              </a:rPr>
              <a:t>Such relational algebra with annotations is referred to as </a:t>
            </a:r>
            <a:r>
              <a:rPr b="1" lang="en" sz="1500">
                <a:solidFill>
                  <a:srgbClr val="000000"/>
                </a:solidFill>
                <a:highlight>
                  <a:srgbClr val="FFFFFF"/>
                </a:highlight>
                <a:latin typeface="Roboto"/>
                <a:ea typeface="Roboto"/>
                <a:cs typeface="Roboto"/>
                <a:sym typeface="Roboto"/>
              </a:rPr>
              <a:t>Evaluation Primitives</a:t>
            </a:r>
            <a:r>
              <a:rPr lang="en" sz="1500">
                <a:solidFill>
                  <a:srgbClr val="000000"/>
                </a:solidFill>
                <a:highlight>
                  <a:srgbClr val="FFFFFF"/>
                </a:highlight>
                <a:latin typeface="Roboto"/>
                <a:ea typeface="Roboto"/>
                <a:cs typeface="Roboto"/>
                <a:sym typeface="Roboto"/>
              </a:rPr>
              <a:t>. The evaluation primitives carry the instructions needed for the evaluation of the operation.</a:t>
            </a:r>
            <a:endParaRPr sz="1500">
              <a:solidFill>
                <a:srgbClr val="000000"/>
              </a:solidFill>
              <a:highlight>
                <a:srgbClr val="FFFFFF"/>
              </a:highlight>
              <a:latin typeface="Roboto"/>
              <a:ea typeface="Roboto"/>
              <a:cs typeface="Roboto"/>
              <a:sym typeface="Roboto"/>
            </a:endParaRPr>
          </a:p>
          <a:p>
            <a:pPr indent="-323850" lvl="0" marL="457200" marR="25400" rtl="0" algn="l">
              <a:lnSpc>
                <a:spcPct val="146250"/>
              </a:lnSpc>
              <a:spcBef>
                <a:spcPts val="0"/>
              </a:spcBef>
              <a:spcAft>
                <a:spcPts val="0"/>
              </a:spcAft>
              <a:buClr>
                <a:srgbClr val="000000"/>
              </a:buClr>
              <a:buSzPts val="1500"/>
              <a:buFont typeface="Roboto"/>
              <a:buChar char="○"/>
            </a:pPr>
            <a:r>
              <a:rPr lang="en" sz="1500">
                <a:solidFill>
                  <a:srgbClr val="000000"/>
                </a:solidFill>
                <a:highlight>
                  <a:srgbClr val="FFFFFF"/>
                </a:highlight>
                <a:latin typeface="Roboto"/>
                <a:ea typeface="Roboto"/>
                <a:cs typeface="Roboto"/>
                <a:sym typeface="Roboto"/>
              </a:rPr>
              <a:t>Thus, a query evaluation plan defines a sequence of primitive operations used for evaluating a query. The query evaluation plan is also referred to as </a:t>
            </a:r>
            <a:r>
              <a:rPr b="1" lang="en" sz="1500">
                <a:solidFill>
                  <a:srgbClr val="000000"/>
                </a:solidFill>
                <a:highlight>
                  <a:srgbClr val="FFFFFF"/>
                </a:highlight>
                <a:latin typeface="Roboto"/>
                <a:ea typeface="Roboto"/>
                <a:cs typeface="Roboto"/>
                <a:sym typeface="Roboto"/>
              </a:rPr>
              <a:t>the query execution plan</a:t>
            </a:r>
            <a:r>
              <a:rPr lang="en" sz="1500">
                <a:solidFill>
                  <a:srgbClr val="000000"/>
                </a:solidFill>
                <a:highlight>
                  <a:srgbClr val="FFFFFF"/>
                </a:highlight>
                <a:latin typeface="Roboto"/>
                <a:ea typeface="Roboto"/>
                <a:cs typeface="Roboto"/>
                <a:sym typeface="Roboto"/>
              </a:rPr>
              <a:t>.</a:t>
            </a:r>
            <a:endParaRPr sz="1500">
              <a:solidFill>
                <a:srgbClr val="000000"/>
              </a:solidFill>
              <a:highlight>
                <a:srgbClr val="FFFFFF"/>
              </a:highlight>
              <a:latin typeface="Roboto"/>
              <a:ea typeface="Roboto"/>
              <a:cs typeface="Roboto"/>
              <a:sym typeface="Roboto"/>
            </a:endParaRPr>
          </a:p>
          <a:p>
            <a:pPr indent="-323850" lvl="0" marL="457200" marR="25400" rtl="0" algn="l">
              <a:lnSpc>
                <a:spcPct val="146250"/>
              </a:lnSpc>
              <a:spcBef>
                <a:spcPts val="0"/>
              </a:spcBef>
              <a:spcAft>
                <a:spcPts val="0"/>
              </a:spcAft>
              <a:buClr>
                <a:srgbClr val="000000"/>
              </a:buClr>
              <a:buSzPts val="1500"/>
              <a:buFont typeface="Roboto"/>
              <a:buChar char="○"/>
            </a:pPr>
            <a:r>
              <a:rPr lang="en" sz="1500">
                <a:solidFill>
                  <a:srgbClr val="000000"/>
                </a:solidFill>
                <a:highlight>
                  <a:srgbClr val="FFFFFF"/>
                </a:highlight>
                <a:latin typeface="Roboto"/>
                <a:ea typeface="Roboto"/>
                <a:cs typeface="Roboto"/>
                <a:sym typeface="Roboto"/>
              </a:rPr>
              <a:t>A </a:t>
            </a:r>
            <a:r>
              <a:rPr b="1" lang="en" sz="1500">
                <a:solidFill>
                  <a:srgbClr val="000000"/>
                </a:solidFill>
                <a:highlight>
                  <a:srgbClr val="FFFFFF"/>
                </a:highlight>
                <a:latin typeface="Roboto"/>
                <a:ea typeface="Roboto"/>
                <a:cs typeface="Roboto"/>
                <a:sym typeface="Roboto"/>
              </a:rPr>
              <a:t>query execution engine</a:t>
            </a:r>
            <a:r>
              <a:rPr lang="en" sz="1500">
                <a:solidFill>
                  <a:srgbClr val="000000"/>
                </a:solidFill>
                <a:highlight>
                  <a:srgbClr val="FFFFFF"/>
                </a:highlight>
                <a:latin typeface="Roboto"/>
                <a:ea typeface="Roboto"/>
                <a:cs typeface="Roboto"/>
                <a:sym typeface="Roboto"/>
              </a:rPr>
              <a:t> is responsible for generating the output of the given query. It takes the query execution plan, executes it, and finally makes the output for the user query.</a:t>
            </a:r>
            <a:endParaRPr sz="1500">
              <a:solidFill>
                <a:srgbClr val="000000"/>
              </a:solidFill>
              <a:highlight>
                <a:srgbClr val="FFFFFF"/>
              </a:highlight>
              <a:latin typeface="Roboto"/>
              <a:ea typeface="Roboto"/>
              <a:cs typeface="Roboto"/>
              <a:sym typeface="Roboto"/>
            </a:endParaRPr>
          </a:p>
          <a:p>
            <a:pPr indent="0" lvl="0" marL="0" rtl="0" algn="l">
              <a:lnSpc>
                <a:spcPct val="105000"/>
              </a:lnSpc>
              <a:spcBef>
                <a:spcPts val="1200"/>
              </a:spcBef>
              <a:spcAft>
                <a:spcPts val="1200"/>
              </a:spcAft>
              <a:buNone/>
            </a:pPr>
            <a:r>
              <a:t/>
            </a:r>
            <a:endParaRPr sz="21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2"/>
          <p:cNvSpPr txBox="1"/>
          <p:nvPr>
            <p:ph type="title"/>
          </p:nvPr>
        </p:nvSpPr>
        <p:spPr>
          <a:xfrm>
            <a:off x="194000" y="0"/>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3. Optimization</a:t>
            </a:r>
            <a:endParaRPr/>
          </a:p>
        </p:txBody>
      </p:sp>
      <p:sp>
        <p:nvSpPr>
          <p:cNvPr id="120" name="Google Shape;120;p22"/>
          <p:cNvSpPr txBox="1"/>
          <p:nvPr>
            <p:ph idx="1" type="body"/>
          </p:nvPr>
        </p:nvSpPr>
        <p:spPr>
          <a:xfrm>
            <a:off x="0" y="564950"/>
            <a:ext cx="9144000" cy="4004100"/>
          </a:xfrm>
          <a:prstGeom prst="rect">
            <a:avLst/>
          </a:prstGeom>
        </p:spPr>
        <p:txBody>
          <a:bodyPr anchorCtr="0" anchor="t" bIns="91425" lIns="91425" spcFirstLastPara="1" rIns="91425" wrap="square" tIns="91425">
            <a:noAutofit/>
          </a:bodyPr>
          <a:lstStyle/>
          <a:p>
            <a:pPr indent="-336550" lvl="0" marL="457200" marR="25400" rtl="0" algn="l">
              <a:lnSpc>
                <a:spcPct val="156250"/>
              </a:lnSpc>
              <a:spcBef>
                <a:spcPts val="1500"/>
              </a:spcBef>
              <a:spcAft>
                <a:spcPts val="0"/>
              </a:spcAft>
              <a:buClr>
                <a:srgbClr val="000000"/>
              </a:buClr>
              <a:buSzPts val="1700"/>
              <a:buFont typeface="Roboto"/>
              <a:buChar char="○"/>
            </a:pPr>
            <a:r>
              <a:rPr lang="en" sz="1700">
                <a:solidFill>
                  <a:srgbClr val="000000"/>
                </a:solidFill>
                <a:highlight>
                  <a:srgbClr val="FFFFFF"/>
                </a:highlight>
                <a:latin typeface="Roboto"/>
                <a:ea typeface="Roboto"/>
                <a:cs typeface="Roboto"/>
                <a:sym typeface="Roboto"/>
              </a:rPr>
              <a:t>The cost of the query evaluation can vary for different types of queries. Although the system is responsible for constructing the evaluation plan, the user does need not to write their query efficiently.</a:t>
            </a:r>
            <a:endParaRPr sz="1700">
              <a:solidFill>
                <a:srgbClr val="000000"/>
              </a:solidFill>
              <a:highlight>
                <a:srgbClr val="FFFFFF"/>
              </a:highlight>
              <a:latin typeface="Roboto"/>
              <a:ea typeface="Roboto"/>
              <a:cs typeface="Roboto"/>
              <a:sym typeface="Roboto"/>
            </a:endParaRPr>
          </a:p>
          <a:p>
            <a:pPr indent="-336550" lvl="0" marL="457200" marR="25400" rtl="0" algn="l">
              <a:lnSpc>
                <a:spcPct val="156250"/>
              </a:lnSpc>
              <a:spcBef>
                <a:spcPts val="0"/>
              </a:spcBef>
              <a:spcAft>
                <a:spcPts val="0"/>
              </a:spcAft>
              <a:buClr>
                <a:srgbClr val="000000"/>
              </a:buClr>
              <a:buSzPts val="1700"/>
              <a:buFont typeface="Roboto"/>
              <a:buChar char="○"/>
            </a:pPr>
            <a:r>
              <a:rPr lang="en" sz="1700">
                <a:solidFill>
                  <a:srgbClr val="000000"/>
                </a:solidFill>
                <a:highlight>
                  <a:srgbClr val="FFFFFF"/>
                </a:highlight>
                <a:latin typeface="Roboto"/>
                <a:ea typeface="Roboto"/>
                <a:cs typeface="Roboto"/>
                <a:sym typeface="Roboto"/>
              </a:rPr>
              <a:t>Usually, a database system generates an efficient query evaluation plan, which minimizes its cost. This type of task performed by the database system and is known as Query Optimization.</a:t>
            </a:r>
            <a:endParaRPr sz="1700">
              <a:solidFill>
                <a:srgbClr val="000000"/>
              </a:solidFill>
              <a:highlight>
                <a:srgbClr val="FFFFFF"/>
              </a:highlight>
              <a:latin typeface="Roboto"/>
              <a:ea typeface="Roboto"/>
              <a:cs typeface="Roboto"/>
              <a:sym typeface="Roboto"/>
            </a:endParaRPr>
          </a:p>
          <a:p>
            <a:pPr indent="-336550" lvl="0" marL="457200" marR="25400" rtl="0" algn="l">
              <a:lnSpc>
                <a:spcPct val="156250"/>
              </a:lnSpc>
              <a:spcBef>
                <a:spcPts val="0"/>
              </a:spcBef>
              <a:spcAft>
                <a:spcPts val="0"/>
              </a:spcAft>
              <a:buClr>
                <a:srgbClr val="000000"/>
              </a:buClr>
              <a:buSzPts val="1700"/>
              <a:buFont typeface="Roboto"/>
              <a:buChar char="○"/>
            </a:pPr>
            <a:r>
              <a:rPr lang="en" sz="1700">
                <a:solidFill>
                  <a:srgbClr val="000000"/>
                </a:solidFill>
                <a:highlight>
                  <a:srgbClr val="FFFFFF"/>
                </a:highlight>
                <a:latin typeface="Roboto"/>
                <a:ea typeface="Roboto"/>
                <a:cs typeface="Roboto"/>
                <a:sym typeface="Roboto"/>
              </a:rPr>
              <a:t>For optimizing a query, the query optimizer should have an estimated cost analysis of each operation. It is because the overall operation cost depends on the memory allocations to several operations, execution costs, and so on.</a:t>
            </a:r>
            <a:endParaRPr sz="1700">
              <a:solidFill>
                <a:srgbClr val="000000"/>
              </a:solidFill>
              <a:highlight>
                <a:srgbClr val="FFFFFF"/>
              </a:highlight>
              <a:latin typeface="Roboto"/>
              <a:ea typeface="Roboto"/>
              <a:cs typeface="Roboto"/>
              <a:sym typeface="Roboto"/>
            </a:endParaRPr>
          </a:p>
          <a:p>
            <a:pPr indent="0" lvl="0" marL="0" rtl="0" algn="just">
              <a:spcBef>
                <a:spcPts val="1200"/>
              </a:spcBef>
              <a:spcAft>
                <a:spcPts val="0"/>
              </a:spcAft>
              <a:buNone/>
            </a:pPr>
            <a:r>
              <a:rPr lang="en" sz="1700">
                <a:solidFill>
                  <a:srgbClr val="333333"/>
                </a:solidFill>
                <a:highlight>
                  <a:srgbClr val="FFFFFF"/>
                </a:highlight>
                <a:latin typeface="Roboto"/>
                <a:ea typeface="Roboto"/>
                <a:cs typeface="Roboto"/>
                <a:sym typeface="Roboto"/>
              </a:rPr>
              <a:t>Finally, after selecting an evaluation plan, the system evaluates the query and produces the output of the query.</a:t>
            </a:r>
            <a:endParaRPr sz="1700">
              <a:solidFill>
                <a:srgbClr val="333333"/>
              </a:solidFill>
              <a:highlight>
                <a:srgbClr val="FFFFFF"/>
              </a:highlight>
              <a:latin typeface="Roboto"/>
              <a:ea typeface="Roboto"/>
              <a:cs typeface="Roboto"/>
              <a:sym typeface="Roboto"/>
            </a:endParaRPr>
          </a:p>
          <a:p>
            <a:pPr indent="0" lvl="0" marL="0" rtl="0" algn="l">
              <a:spcBef>
                <a:spcPts val="1200"/>
              </a:spcBef>
              <a:spcAft>
                <a:spcPts val="1200"/>
              </a:spcAft>
              <a:buNone/>
            </a:pPr>
            <a:r>
              <a:t/>
            </a:r>
            <a:endParaRPr sz="23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3"/>
          <p:cNvSpPr txBox="1"/>
          <p:nvPr>
            <p:ph idx="1" type="body"/>
          </p:nvPr>
        </p:nvSpPr>
        <p:spPr>
          <a:xfrm>
            <a:off x="25" y="0"/>
            <a:ext cx="9144000" cy="4569300"/>
          </a:xfrm>
          <a:prstGeom prst="rect">
            <a:avLst/>
          </a:prstGeom>
        </p:spPr>
        <p:txBody>
          <a:bodyPr anchorCtr="0" anchor="t" bIns="91425" lIns="91425" spcFirstLastPara="1" rIns="91425" wrap="square" tIns="91425">
            <a:noAutofit/>
          </a:bodyPr>
          <a:lstStyle/>
          <a:p>
            <a:pPr indent="0" lvl="0" marL="0" rtl="0" algn="just">
              <a:spcBef>
                <a:spcPts val="1200"/>
              </a:spcBef>
              <a:spcAft>
                <a:spcPts val="0"/>
              </a:spcAft>
              <a:buNone/>
            </a:pPr>
            <a:r>
              <a:rPr lang="en" sz="1900">
                <a:solidFill>
                  <a:srgbClr val="333333"/>
                </a:solidFill>
                <a:highlight>
                  <a:srgbClr val="FFFFFF"/>
                </a:highlight>
                <a:latin typeface="Roboto"/>
                <a:ea typeface="Roboto"/>
                <a:cs typeface="Roboto"/>
                <a:sym typeface="Roboto"/>
              </a:rPr>
              <a:t>Suppose a user executes a query. As we have learned that there are various methods of extracting the data from the database. In SQL, a user wants to fetch the records of the employees whose salary is greater than or equal to 10000. For doing this, the following query is undertaken:</a:t>
            </a:r>
            <a:endParaRPr sz="1900">
              <a:solidFill>
                <a:srgbClr val="333333"/>
              </a:solidFill>
              <a:highlight>
                <a:srgbClr val="FFFFFF"/>
              </a:highlight>
              <a:latin typeface="Roboto"/>
              <a:ea typeface="Roboto"/>
              <a:cs typeface="Roboto"/>
              <a:sym typeface="Roboto"/>
            </a:endParaRPr>
          </a:p>
          <a:p>
            <a:pPr indent="0" lvl="0" marL="0" rtl="0" algn="just">
              <a:spcBef>
                <a:spcPts val="1200"/>
              </a:spcBef>
              <a:spcAft>
                <a:spcPts val="0"/>
              </a:spcAft>
              <a:buNone/>
            </a:pPr>
            <a:r>
              <a:rPr b="1" lang="en" sz="1900">
                <a:solidFill>
                  <a:srgbClr val="333333"/>
                </a:solidFill>
                <a:highlight>
                  <a:srgbClr val="FFFFFF"/>
                </a:highlight>
                <a:latin typeface="Roboto"/>
                <a:ea typeface="Roboto"/>
                <a:cs typeface="Roboto"/>
                <a:sym typeface="Roboto"/>
              </a:rPr>
              <a:t>select emp_name from Employee where salary&gt;10000;</a:t>
            </a:r>
            <a:endParaRPr b="1" sz="1900">
              <a:solidFill>
                <a:srgbClr val="333333"/>
              </a:solidFill>
              <a:highlight>
                <a:srgbClr val="FFFFFF"/>
              </a:highlight>
              <a:latin typeface="Roboto"/>
              <a:ea typeface="Roboto"/>
              <a:cs typeface="Roboto"/>
              <a:sym typeface="Roboto"/>
            </a:endParaRPr>
          </a:p>
          <a:p>
            <a:pPr indent="0" lvl="0" marL="0" rtl="0" algn="just">
              <a:spcBef>
                <a:spcPts val="1200"/>
              </a:spcBef>
              <a:spcAft>
                <a:spcPts val="0"/>
              </a:spcAft>
              <a:buNone/>
            </a:pPr>
            <a:r>
              <a:rPr lang="en" sz="1900">
                <a:solidFill>
                  <a:srgbClr val="333333"/>
                </a:solidFill>
                <a:highlight>
                  <a:srgbClr val="FFFFFF"/>
                </a:highlight>
                <a:latin typeface="Roboto"/>
                <a:ea typeface="Roboto"/>
                <a:cs typeface="Roboto"/>
                <a:sym typeface="Roboto"/>
              </a:rPr>
              <a:t>Thus, to make the system understand the user query, it needs to be translated in the form of relational algebra. We can bring this query in the relational algebra form as:</a:t>
            </a:r>
            <a:endParaRPr sz="1900">
              <a:solidFill>
                <a:srgbClr val="333333"/>
              </a:solidFill>
              <a:highlight>
                <a:srgbClr val="FFFFFF"/>
              </a:highlight>
              <a:latin typeface="Roboto"/>
              <a:ea typeface="Roboto"/>
              <a:cs typeface="Roboto"/>
              <a:sym typeface="Roboto"/>
            </a:endParaRPr>
          </a:p>
          <a:p>
            <a:pPr indent="-349250" lvl="0" marL="457200" marR="25400" rtl="0" algn="l">
              <a:lnSpc>
                <a:spcPct val="156250"/>
              </a:lnSpc>
              <a:spcBef>
                <a:spcPts val="1500"/>
              </a:spcBef>
              <a:spcAft>
                <a:spcPts val="0"/>
              </a:spcAft>
              <a:buClr>
                <a:srgbClr val="000000"/>
              </a:buClr>
              <a:buSzPts val="1900"/>
              <a:buFont typeface="Roboto"/>
              <a:buChar char="○"/>
            </a:pPr>
            <a:r>
              <a:rPr b="1" lang="en" sz="1900">
                <a:solidFill>
                  <a:srgbClr val="000000"/>
                </a:solidFill>
                <a:highlight>
                  <a:srgbClr val="FFFFFF"/>
                </a:highlight>
                <a:latin typeface="Roboto"/>
                <a:ea typeface="Roboto"/>
                <a:cs typeface="Roboto"/>
                <a:sym typeface="Roboto"/>
              </a:rPr>
              <a:t>σ</a:t>
            </a:r>
            <a:r>
              <a:rPr b="1" baseline="-25000" lang="en" sz="1900">
                <a:solidFill>
                  <a:srgbClr val="000000"/>
                </a:solidFill>
                <a:highlight>
                  <a:srgbClr val="FFFFFF"/>
                </a:highlight>
                <a:latin typeface="Roboto"/>
                <a:ea typeface="Roboto"/>
                <a:cs typeface="Roboto"/>
                <a:sym typeface="Roboto"/>
              </a:rPr>
              <a:t>salary&gt;10000</a:t>
            </a:r>
            <a:r>
              <a:rPr b="1" lang="en" sz="1900">
                <a:solidFill>
                  <a:srgbClr val="000000"/>
                </a:solidFill>
                <a:highlight>
                  <a:srgbClr val="FFFFFF"/>
                </a:highlight>
                <a:latin typeface="Roboto"/>
                <a:ea typeface="Roboto"/>
                <a:cs typeface="Roboto"/>
                <a:sym typeface="Roboto"/>
              </a:rPr>
              <a:t> (π</a:t>
            </a:r>
            <a:r>
              <a:rPr b="1" baseline="-25000" lang="en" sz="1900">
                <a:solidFill>
                  <a:srgbClr val="000000"/>
                </a:solidFill>
                <a:highlight>
                  <a:srgbClr val="FFFFFF"/>
                </a:highlight>
                <a:latin typeface="Roboto"/>
                <a:ea typeface="Roboto"/>
                <a:cs typeface="Roboto"/>
                <a:sym typeface="Roboto"/>
              </a:rPr>
              <a:t>salary</a:t>
            </a:r>
            <a:r>
              <a:rPr b="1" lang="en" sz="1900">
                <a:solidFill>
                  <a:srgbClr val="000000"/>
                </a:solidFill>
                <a:highlight>
                  <a:srgbClr val="FFFFFF"/>
                </a:highlight>
                <a:latin typeface="Roboto"/>
                <a:ea typeface="Roboto"/>
                <a:cs typeface="Roboto"/>
                <a:sym typeface="Roboto"/>
              </a:rPr>
              <a:t> (Employee))</a:t>
            </a:r>
            <a:endParaRPr b="1" sz="1900">
              <a:solidFill>
                <a:srgbClr val="000000"/>
              </a:solidFill>
              <a:highlight>
                <a:srgbClr val="FFFFFF"/>
              </a:highlight>
              <a:latin typeface="Roboto"/>
              <a:ea typeface="Roboto"/>
              <a:cs typeface="Roboto"/>
              <a:sym typeface="Roboto"/>
            </a:endParaRPr>
          </a:p>
          <a:p>
            <a:pPr indent="-349250" lvl="0" marL="457200" marR="25400" rtl="0" algn="l">
              <a:lnSpc>
                <a:spcPct val="156250"/>
              </a:lnSpc>
              <a:spcBef>
                <a:spcPts val="0"/>
              </a:spcBef>
              <a:spcAft>
                <a:spcPts val="0"/>
              </a:spcAft>
              <a:buClr>
                <a:srgbClr val="000000"/>
              </a:buClr>
              <a:buSzPts val="1900"/>
              <a:buFont typeface="Roboto"/>
              <a:buChar char="○"/>
            </a:pPr>
            <a:r>
              <a:rPr b="1" lang="en" sz="1900">
                <a:solidFill>
                  <a:srgbClr val="000000"/>
                </a:solidFill>
                <a:highlight>
                  <a:srgbClr val="FFFFFF"/>
                </a:highlight>
                <a:latin typeface="Roboto"/>
                <a:ea typeface="Roboto"/>
                <a:cs typeface="Roboto"/>
                <a:sym typeface="Roboto"/>
              </a:rPr>
              <a:t>π</a:t>
            </a:r>
            <a:r>
              <a:rPr b="1" baseline="-25000" lang="en" sz="1900">
                <a:solidFill>
                  <a:srgbClr val="000000"/>
                </a:solidFill>
                <a:highlight>
                  <a:srgbClr val="FFFFFF"/>
                </a:highlight>
                <a:latin typeface="Roboto"/>
                <a:ea typeface="Roboto"/>
                <a:cs typeface="Roboto"/>
                <a:sym typeface="Roboto"/>
              </a:rPr>
              <a:t>salary</a:t>
            </a:r>
            <a:r>
              <a:rPr b="1" lang="en" sz="1900">
                <a:solidFill>
                  <a:srgbClr val="000000"/>
                </a:solidFill>
                <a:highlight>
                  <a:srgbClr val="FFFFFF"/>
                </a:highlight>
                <a:latin typeface="Roboto"/>
                <a:ea typeface="Roboto"/>
                <a:cs typeface="Roboto"/>
                <a:sym typeface="Roboto"/>
              </a:rPr>
              <a:t> (σ</a:t>
            </a:r>
            <a:r>
              <a:rPr b="1" baseline="-25000" lang="en" sz="1900">
                <a:solidFill>
                  <a:srgbClr val="000000"/>
                </a:solidFill>
                <a:highlight>
                  <a:srgbClr val="FFFFFF"/>
                </a:highlight>
                <a:latin typeface="Roboto"/>
                <a:ea typeface="Roboto"/>
                <a:cs typeface="Roboto"/>
                <a:sym typeface="Roboto"/>
              </a:rPr>
              <a:t>salary&gt;10000</a:t>
            </a:r>
            <a:r>
              <a:rPr b="1" lang="en" sz="1900">
                <a:solidFill>
                  <a:srgbClr val="000000"/>
                </a:solidFill>
                <a:highlight>
                  <a:srgbClr val="FFFFFF"/>
                </a:highlight>
                <a:latin typeface="Roboto"/>
                <a:ea typeface="Roboto"/>
                <a:cs typeface="Roboto"/>
                <a:sym typeface="Roboto"/>
              </a:rPr>
              <a:t> (Employee))</a:t>
            </a:r>
            <a:endParaRPr b="1" sz="1900">
              <a:solidFill>
                <a:srgbClr val="000000"/>
              </a:solidFill>
              <a:highlight>
                <a:srgbClr val="FFFFFF"/>
              </a:highlight>
              <a:latin typeface="Roboto"/>
              <a:ea typeface="Roboto"/>
              <a:cs typeface="Roboto"/>
              <a:sym typeface="Roboto"/>
            </a:endParaRPr>
          </a:p>
          <a:p>
            <a:pPr indent="0" lvl="0" marL="0" rtl="0" algn="just">
              <a:spcBef>
                <a:spcPts val="1200"/>
              </a:spcBef>
              <a:spcAft>
                <a:spcPts val="0"/>
              </a:spcAft>
              <a:buNone/>
            </a:pPr>
            <a:r>
              <a:rPr lang="en" sz="1900">
                <a:solidFill>
                  <a:srgbClr val="333333"/>
                </a:solidFill>
                <a:highlight>
                  <a:srgbClr val="FFFFFF"/>
                </a:highlight>
                <a:latin typeface="Roboto"/>
                <a:ea typeface="Roboto"/>
                <a:cs typeface="Roboto"/>
                <a:sym typeface="Roboto"/>
              </a:rPr>
              <a:t>After translating the given query, we can execute each relational algebra operation by using different algorithms. So, in this way, a query processing begins its working.</a:t>
            </a:r>
            <a:endParaRPr sz="1900">
              <a:solidFill>
                <a:srgbClr val="333333"/>
              </a:solidFill>
              <a:highlight>
                <a:srgbClr val="FFFFFF"/>
              </a:highlight>
              <a:latin typeface="Roboto"/>
              <a:ea typeface="Roboto"/>
              <a:cs typeface="Roboto"/>
              <a:sym typeface="Roboto"/>
            </a:endParaRPr>
          </a:p>
          <a:p>
            <a:pPr indent="0" lvl="0" marL="0" rtl="0" algn="l">
              <a:spcBef>
                <a:spcPts val="1200"/>
              </a:spcBef>
              <a:spcAft>
                <a:spcPts val="1200"/>
              </a:spcAft>
              <a:buNone/>
            </a:pPr>
            <a:r>
              <a:t/>
            </a:r>
            <a:endParaRPr sz="25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4"/>
          <p:cNvSpPr txBox="1"/>
          <p:nvPr>
            <p:ph idx="1" type="body"/>
          </p:nvPr>
        </p:nvSpPr>
        <p:spPr>
          <a:xfrm>
            <a:off x="311700" y="129475"/>
            <a:ext cx="8832300" cy="4439700"/>
          </a:xfrm>
          <a:prstGeom prst="rect">
            <a:avLst/>
          </a:prstGeom>
        </p:spPr>
        <p:txBody>
          <a:bodyPr anchorCtr="0" anchor="t" bIns="91425" lIns="91425" spcFirstLastPara="1" rIns="91425" wrap="square" tIns="91425">
            <a:noAutofit/>
          </a:bodyPr>
          <a:lstStyle/>
          <a:p>
            <a:pPr indent="-476250" lvl="0" marL="285750" rtl="0" algn="l">
              <a:lnSpc>
                <a:spcPct val="100000"/>
              </a:lnSpc>
              <a:spcBef>
                <a:spcPts val="0"/>
              </a:spcBef>
              <a:spcAft>
                <a:spcPts val="0"/>
              </a:spcAft>
              <a:buClr>
                <a:srgbClr val="000000"/>
              </a:buClr>
              <a:buSzPts val="2100"/>
              <a:buFont typeface="Courier New"/>
              <a:buChar char="o"/>
            </a:pPr>
            <a:r>
              <a:rPr lang="en" sz="2100">
                <a:solidFill>
                  <a:srgbClr val="000000"/>
                </a:solidFill>
                <a:latin typeface="Lustria"/>
                <a:ea typeface="Lustria"/>
                <a:cs typeface="Lustria"/>
                <a:sym typeface="Lustria"/>
              </a:rPr>
              <a:t>A relational algebra expression may have many equivalent expressions</a:t>
            </a:r>
            <a:endParaRPr sz="2100">
              <a:solidFill>
                <a:srgbClr val="000000"/>
              </a:solidFill>
              <a:latin typeface="Lustria"/>
              <a:ea typeface="Lustria"/>
              <a:cs typeface="Lustria"/>
              <a:sym typeface="Lustria"/>
            </a:endParaRPr>
          </a:p>
          <a:p>
            <a:pPr indent="-342900" lvl="0" marL="285750" rtl="0" algn="l">
              <a:lnSpc>
                <a:spcPct val="100000"/>
              </a:lnSpc>
              <a:spcBef>
                <a:spcPts val="0"/>
              </a:spcBef>
              <a:spcAft>
                <a:spcPts val="0"/>
              </a:spcAft>
              <a:buNone/>
            </a:pPr>
            <a:r>
              <a:rPr lang="en" sz="2100">
                <a:solidFill>
                  <a:srgbClr val="000000"/>
                </a:solidFill>
                <a:latin typeface="Lustria"/>
                <a:ea typeface="Lustria"/>
                <a:cs typeface="Lustria"/>
                <a:sym typeface="Lustria"/>
              </a:rPr>
              <a:t>E.g., </a:t>
            </a:r>
            <a:r>
              <a:rPr lang="en" sz="2300">
                <a:solidFill>
                  <a:srgbClr val="000000"/>
                </a:solidFill>
                <a:latin typeface="Noto Sans Symbols"/>
                <a:ea typeface="Noto Sans Symbols"/>
                <a:cs typeface="Noto Sans Symbols"/>
                <a:sym typeface="Noto Sans Symbols"/>
              </a:rPr>
              <a:t>σ</a:t>
            </a:r>
            <a:r>
              <a:rPr baseline="-25000" i="1" lang="en" sz="2100">
                <a:solidFill>
                  <a:srgbClr val="000000"/>
                </a:solidFill>
                <a:latin typeface="Lustria"/>
                <a:ea typeface="Lustria"/>
                <a:cs typeface="Lustria"/>
                <a:sym typeface="Lustria"/>
              </a:rPr>
              <a:t>balance</a:t>
            </a:r>
            <a:r>
              <a:rPr baseline="-25000" lang="en" sz="2100">
                <a:solidFill>
                  <a:srgbClr val="000000"/>
                </a:solidFill>
                <a:latin typeface="Noto Sans Symbols"/>
                <a:ea typeface="Noto Sans Symbols"/>
                <a:cs typeface="Noto Sans Symbols"/>
                <a:sym typeface="Noto Sans Symbols"/>
              </a:rPr>
              <a:t>&lt;</a:t>
            </a:r>
            <a:r>
              <a:rPr baseline="-25000" lang="en" sz="2100">
                <a:solidFill>
                  <a:srgbClr val="000000"/>
                </a:solidFill>
                <a:latin typeface="Lustria"/>
                <a:ea typeface="Lustria"/>
                <a:cs typeface="Lustria"/>
                <a:sym typeface="Lustria"/>
              </a:rPr>
              <a:t>2500</a:t>
            </a:r>
            <a:r>
              <a:rPr lang="en" sz="2100">
                <a:solidFill>
                  <a:srgbClr val="000000"/>
                </a:solidFill>
                <a:latin typeface="Lustria"/>
                <a:ea typeface="Lustria"/>
                <a:cs typeface="Lustria"/>
                <a:sym typeface="Lustria"/>
              </a:rPr>
              <a:t>(</a:t>
            </a:r>
            <a:r>
              <a:rPr lang="en" sz="2100">
                <a:solidFill>
                  <a:srgbClr val="000000"/>
                </a:solidFill>
                <a:latin typeface="Noto Sans Symbols"/>
                <a:ea typeface="Noto Sans Symbols"/>
                <a:cs typeface="Noto Sans Symbols"/>
                <a:sym typeface="Noto Sans Symbols"/>
              </a:rPr>
              <a:t>∏</a:t>
            </a:r>
            <a:r>
              <a:rPr baseline="-25000" i="1" lang="en" sz="2100">
                <a:solidFill>
                  <a:srgbClr val="000000"/>
                </a:solidFill>
                <a:latin typeface="Lustria"/>
                <a:ea typeface="Lustria"/>
                <a:cs typeface="Lustria"/>
                <a:sym typeface="Lustria"/>
              </a:rPr>
              <a:t>balance</a:t>
            </a:r>
            <a:r>
              <a:rPr lang="en" sz="2100">
                <a:solidFill>
                  <a:srgbClr val="000000"/>
                </a:solidFill>
                <a:latin typeface="Lustria"/>
                <a:ea typeface="Lustria"/>
                <a:cs typeface="Lustria"/>
                <a:sym typeface="Lustria"/>
              </a:rPr>
              <a:t>(</a:t>
            </a:r>
            <a:r>
              <a:rPr i="1" lang="en" sz="2100">
                <a:solidFill>
                  <a:srgbClr val="000000"/>
                </a:solidFill>
                <a:latin typeface="Lustria"/>
                <a:ea typeface="Lustria"/>
                <a:cs typeface="Lustria"/>
                <a:sym typeface="Lustria"/>
              </a:rPr>
              <a:t>account)) </a:t>
            </a:r>
            <a:r>
              <a:rPr lang="en" sz="2100">
                <a:solidFill>
                  <a:srgbClr val="000000"/>
                </a:solidFill>
                <a:latin typeface="Lustria"/>
                <a:ea typeface="Lustria"/>
                <a:cs typeface="Lustria"/>
                <a:sym typeface="Lustria"/>
              </a:rPr>
              <a:t>is equivalent to </a:t>
            </a:r>
            <a:br>
              <a:rPr lang="en" sz="2100">
                <a:solidFill>
                  <a:srgbClr val="000000"/>
                </a:solidFill>
                <a:latin typeface="Lustria"/>
                <a:ea typeface="Lustria"/>
                <a:cs typeface="Lustria"/>
                <a:sym typeface="Lustria"/>
              </a:rPr>
            </a:br>
            <a:r>
              <a:rPr lang="en" sz="2100">
                <a:solidFill>
                  <a:srgbClr val="000000"/>
                </a:solidFill>
                <a:latin typeface="Lustria"/>
                <a:ea typeface="Lustria"/>
                <a:cs typeface="Lustria"/>
                <a:sym typeface="Lustria"/>
              </a:rPr>
              <a:t>         </a:t>
            </a:r>
            <a:r>
              <a:rPr lang="en" sz="2100">
                <a:solidFill>
                  <a:srgbClr val="000000"/>
                </a:solidFill>
                <a:latin typeface="Noto Sans Symbols"/>
                <a:ea typeface="Noto Sans Symbols"/>
                <a:cs typeface="Noto Sans Symbols"/>
                <a:sym typeface="Noto Sans Symbols"/>
              </a:rPr>
              <a:t>∏</a:t>
            </a:r>
            <a:r>
              <a:rPr baseline="-25000" lang="en" sz="2100">
                <a:solidFill>
                  <a:srgbClr val="000000"/>
                </a:solidFill>
                <a:latin typeface="Lustria"/>
                <a:ea typeface="Lustria"/>
                <a:cs typeface="Lustria"/>
                <a:sym typeface="Lustria"/>
              </a:rPr>
              <a:t>balance</a:t>
            </a:r>
            <a:r>
              <a:rPr lang="en" sz="2100">
                <a:solidFill>
                  <a:srgbClr val="000000"/>
                </a:solidFill>
                <a:latin typeface="Lustria"/>
                <a:ea typeface="Lustria"/>
                <a:cs typeface="Lustria"/>
                <a:sym typeface="Lustria"/>
              </a:rPr>
              <a:t>(</a:t>
            </a:r>
            <a:r>
              <a:rPr lang="en" sz="2100">
                <a:solidFill>
                  <a:srgbClr val="000000"/>
                </a:solidFill>
                <a:latin typeface="Noto Sans Symbols"/>
                <a:ea typeface="Noto Sans Symbols"/>
                <a:cs typeface="Noto Sans Symbols"/>
                <a:sym typeface="Noto Sans Symbols"/>
              </a:rPr>
              <a:t>σ</a:t>
            </a:r>
            <a:r>
              <a:rPr baseline="-25000" lang="en" sz="2100">
                <a:solidFill>
                  <a:srgbClr val="000000"/>
                </a:solidFill>
                <a:latin typeface="Lustria"/>
                <a:ea typeface="Lustria"/>
                <a:cs typeface="Lustria"/>
                <a:sym typeface="Lustria"/>
              </a:rPr>
              <a:t>balance</a:t>
            </a:r>
            <a:r>
              <a:rPr baseline="-25000" lang="en" sz="2100">
                <a:solidFill>
                  <a:srgbClr val="000000"/>
                </a:solidFill>
                <a:latin typeface="Noto Sans Symbols"/>
                <a:ea typeface="Noto Sans Symbols"/>
                <a:cs typeface="Noto Sans Symbols"/>
                <a:sym typeface="Noto Sans Symbols"/>
              </a:rPr>
              <a:t>&lt;</a:t>
            </a:r>
            <a:r>
              <a:rPr baseline="-25000" lang="en" sz="2100">
                <a:solidFill>
                  <a:srgbClr val="000000"/>
                </a:solidFill>
                <a:latin typeface="Lustria"/>
                <a:ea typeface="Lustria"/>
                <a:cs typeface="Lustria"/>
                <a:sym typeface="Lustria"/>
              </a:rPr>
              <a:t>2500</a:t>
            </a:r>
            <a:r>
              <a:rPr lang="en" sz="2100">
                <a:solidFill>
                  <a:srgbClr val="000000"/>
                </a:solidFill>
                <a:latin typeface="Lustria"/>
                <a:ea typeface="Lustria"/>
                <a:cs typeface="Lustria"/>
                <a:sym typeface="Lustria"/>
              </a:rPr>
              <a:t>(</a:t>
            </a:r>
            <a:r>
              <a:rPr i="1" lang="en" sz="2100">
                <a:solidFill>
                  <a:srgbClr val="000000"/>
                </a:solidFill>
                <a:latin typeface="Lustria"/>
                <a:ea typeface="Lustria"/>
                <a:cs typeface="Lustria"/>
                <a:sym typeface="Lustria"/>
              </a:rPr>
              <a:t>account))</a:t>
            </a:r>
            <a:endParaRPr sz="2100">
              <a:solidFill>
                <a:srgbClr val="000000"/>
              </a:solidFill>
              <a:latin typeface="Lustria"/>
              <a:ea typeface="Lustria"/>
              <a:cs typeface="Lustria"/>
              <a:sym typeface="Lustria"/>
            </a:endParaRPr>
          </a:p>
          <a:p>
            <a:pPr indent="-476250" lvl="0" marL="285750" rtl="0" algn="l">
              <a:lnSpc>
                <a:spcPct val="100000"/>
              </a:lnSpc>
              <a:spcBef>
                <a:spcPts val="0"/>
              </a:spcBef>
              <a:spcAft>
                <a:spcPts val="0"/>
              </a:spcAft>
              <a:buClr>
                <a:srgbClr val="000000"/>
              </a:buClr>
              <a:buSzPts val="2100"/>
              <a:buFont typeface="Courier New"/>
              <a:buChar char="o"/>
            </a:pPr>
            <a:r>
              <a:rPr lang="en" sz="2100">
                <a:solidFill>
                  <a:srgbClr val="000000"/>
                </a:solidFill>
                <a:latin typeface="Lustria"/>
                <a:ea typeface="Lustria"/>
                <a:cs typeface="Lustria"/>
                <a:sym typeface="Lustria"/>
              </a:rPr>
              <a:t>Each relational algebra operation can be evaluated using one of several different algorithms</a:t>
            </a:r>
            <a:endParaRPr sz="2100">
              <a:solidFill>
                <a:srgbClr val="000000"/>
              </a:solidFill>
              <a:latin typeface="Lustria"/>
              <a:ea typeface="Lustria"/>
              <a:cs typeface="Lustria"/>
              <a:sym typeface="Lustria"/>
            </a:endParaRPr>
          </a:p>
          <a:p>
            <a:pPr indent="-476250" lvl="2" marL="285750" rtl="0" algn="l">
              <a:lnSpc>
                <a:spcPct val="100000"/>
              </a:lnSpc>
              <a:spcBef>
                <a:spcPts val="0"/>
              </a:spcBef>
              <a:spcAft>
                <a:spcPts val="0"/>
              </a:spcAft>
              <a:buClr>
                <a:srgbClr val="000000"/>
              </a:buClr>
              <a:buSzPts val="2100"/>
              <a:buFont typeface="Noto Sans Symbols"/>
              <a:buChar char="▪"/>
            </a:pPr>
            <a:r>
              <a:rPr lang="en" sz="2100">
                <a:solidFill>
                  <a:srgbClr val="000000"/>
                </a:solidFill>
                <a:latin typeface="Lustria"/>
                <a:ea typeface="Lustria"/>
                <a:cs typeface="Lustria"/>
                <a:sym typeface="Lustria"/>
              </a:rPr>
              <a:t>Correspondingly, a relational-algebra expression can be evaluated in many ways. </a:t>
            </a:r>
            <a:endParaRPr sz="2100">
              <a:solidFill>
                <a:srgbClr val="000000"/>
              </a:solidFill>
              <a:latin typeface="Lustria"/>
              <a:ea typeface="Lustria"/>
              <a:cs typeface="Lustria"/>
              <a:sym typeface="Lustria"/>
            </a:endParaRPr>
          </a:p>
          <a:p>
            <a:pPr indent="-476250" lvl="0" marL="285750" rtl="0" algn="l">
              <a:lnSpc>
                <a:spcPct val="100000"/>
              </a:lnSpc>
              <a:spcBef>
                <a:spcPts val="0"/>
              </a:spcBef>
              <a:spcAft>
                <a:spcPts val="0"/>
              </a:spcAft>
              <a:buClr>
                <a:srgbClr val="000000"/>
              </a:buClr>
              <a:buSzPts val="2100"/>
              <a:buFont typeface="Courier New"/>
              <a:buChar char="o"/>
            </a:pPr>
            <a:r>
              <a:rPr lang="en" sz="2100">
                <a:solidFill>
                  <a:srgbClr val="000000"/>
                </a:solidFill>
                <a:latin typeface="Lustria"/>
                <a:ea typeface="Lustria"/>
                <a:cs typeface="Lustria"/>
                <a:sym typeface="Lustria"/>
              </a:rPr>
              <a:t>Annotated expression specifying detailed evaluation strategy is called an evaluation-plan.</a:t>
            </a:r>
            <a:endParaRPr sz="2100">
              <a:solidFill>
                <a:srgbClr val="000000"/>
              </a:solidFill>
              <a:latin typeface="Lustria"/>
              <a:ea typeface="Lustria"/>
              <a:cs typeface="Lustria"/>
              <a:sym typeface="Lustria"/>
            </a:endParaRPr>
          </a:p>
          <a:p>
            <a:pPr indent="-476250" lvl="2" marL="285750" rtl="0" algn="l">
              <a:lnSpc>
                <a:spcPct val="100000"/>
              </a:lnSpc>
              <a:spcBef>
                <a:spcPts val="0"/>
              </a:spcBef>
              <a:spcAft>
                <a:spcPts val="0"/>
              </a:spcAft>
              <a:buClr>
                <a:srgbClr val="000000"/>
              </a:buClr>
              <a:buSzPts val="2100"/>
              <a:buFont typeface="Noto Sans Symbols"/>
              <a:buChar char="▪"/>
            </a:pPr>
            <a:r>
              <a:rPr lang="en" sz="2100">
                <a:solidFill>
                  <a:srgbClr val="000000"/>
                </a:solidFill>
                <a:latin typeface="Lustria"/>
                <a:ea typeface="Lustria"/>
                <a:cs typeface="Lustria"/>
                <a:sym typeface="Lustria"/>
              </a:rPr>
              <a:t>E.g., can use an index on </a:t>
            </a:r>
            <a:r>
              <a:rPr i="1" lang="en" sz="2100">
                <a:solidFill>
                  <a:srgbClr val="000000"/>
                </a:solidFill>
                <a:latin typeface="Lustria"/>
                <a:ea typeface="Lustria"/>
                <a:cs typeface="Lustria"/>
                <a:sym typeface="Lustria"/>
              </a:rPr>
              <a:t>balance</a:t>
            </a:r>
            <a:r>
              <a:rPr lang="en" sz="2100">
                <a:solidFill>
                  <a:srgbClr val="000000"/>
                </a:solidFill>
                <a:latin typeface="Lustria"/>
                <a:ea typeface="Lustria"/>
                <a:cs typeface="Lustria"/>
                <a:sym typeface="Lustria"/>
              </a:rPr>
              <a:t> to find accounts with balance &lt; 2500,</a:t>
            </a:r>
            <a:endParaRPr sz="2100">
              <a:solidFill>
                <a:srgbClr val="000000"/>
              </a:solidFill>
              <a:latin typeface="Lustria"/>
              <a:ea typeface="Lustria"/>
              <a:cs typeface="Lustria"/>
              <a:sym typeface="Lustria"/>
            </a:endParaRPr>
          </a:p>
          <a:p>
            <a:pPr indent="-476250" lvl="2" marL="285750" rtl="0" algn="l">
              <a:lnSpc>
                <a:spcPct val="100000"/>
              </a:lnSpc>
              <a:spcBef>
                <a:spcPts val="0"/>
              </a:spcBef>
              <a:spcAft>
                <a:spcPts val="0"/>
              </a:spcAft>
              <a:buClr>
                <a:srgbClr val="000000"/>
              </a:buClr>
              <a:buSzPts val="2100"/>
              <a:buFont typeface="Noto Sans Symbols"/>
              <a:buChar char="▪"/>
            </a:pPr>
            <a:r>
              <a:rPr lang="en" sz="2100">
                <a:solidFill>
                  <a:srgbClr val="000000"/>
                </a:solidFill>
                <a:latin typeface="Lustria"/>
                <a:ea typeface="Lustria"/>
                <a:cs typeface="Lustria"/>
                <a:sym typeface="Lustria"/>
              </a:rPr>
              <a:t>or perform complete relation scan and discard accounts with balance </a:t>
            </a:r>
            <a:r>
              <a:rPr lang="en" sz="2100">
                <a:solidFill>
                  <a:srgbClr val="000000"/>
                </a:solidFill>
                <a:latin typeface="Noto Sans Symbols"/>
                <a:ea typeface="Noto Sans Symbols"/>
                <a:cs typeface="Noto Sans Symbols"/>
                <a:sym typeface="Noto Sans Symbols"/>
              </a:rPr>
              <a:t>≥</a:t>
            </a:r>
            <a:r>
              <a:rPr lang="en" sz="2100">
                <a:solidFill>
                  <a:srgbClr val="000000"/>
                </a:solidFill>
                <a:latin typeface="Lustria"/>
                <a:ea typeface="Lustria"/>
                <a:cs typeface="Lustria"/>
                <a:sym typeface="Lustria"/>
              </a:rPr>
              <a:t> 2500</a:t>
            </a:r>
            <a:endParaRPr sz="2100">
              <a:solidFill>
                <a:srgbClr val="000000"/>
              </a:solidFill>
              <a:latin typeface="Lustria"/>
              <a:ea typeface="Lustria"/>
              <a:cs typeface="Lustria"/>
              <a:sym typeface="Lustria"/>
            </a:endParaRPr>
          </a:p>
          <a:p>
            <a:pPr indent="-342900" lvl="0" marL="285750" rtl="0" algn="l">
              <a:spcBef>
                <a:spcPts val="0"/>
              </a:spcBef>
              <a:spcAft>
                <a:spcPts val="1200"/>
              </a:spcAft>
              <a:buNone/>
            </a:pPr>
            <a:r>
              <a:t/>
            </a:r>
            <a:endParaRPr sz="29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5"/>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36" name="Google Shape;136;p25"/>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Query </a:t>
            </a:r>
            <a:r>
              <a:rPr lang="en"/>
              <a:t>execution</a:t>
            </a:r>
            <a:r>
              <a:rPr lang="en"/>
              <a:t> engine takes a query-evaluation plan, executes that plan, and returns the answers to the query.</a:t>
            </a:r>
            <a:endParaRPr/>
          </a:p>
          <a:p>
            <a:pPr indent="0" lvl="0" marL="0" rtl="0" algn="l">
              <a:spcBef>
                <a:spcPts val="1200"/>
              </a:spcBef>
              <a:spcAft>
                <a:spcPts val="0"/>
              </a:spcAft>
              <a:buNone/>
            </a:pPr>
            <a:r>
              <a:rPr lang="en"/>
              <a:t>Query Optimization: Amongst all equivalent evaluation plans choose the one with lowest cost. </a:t>
            </a:r>
            <a:endParaRPr/>
          </a:p>
          <a:p>
            <a:pPr indent="0" lvl="0" marL="0" rtl="0" algn="l">
              <a:spcBef>
                <a:spcPts val="1200"/>
              </a:spcBef>
              <a:spcAft>
                <a:spcPts val="1200"/>
              </a:spcAft>
              <a:buNone/>
            </a:pPr>
            <a:r>
              <a:rPr lang="en"/>
              <a:t>● Cost is estimated using statistical information from the database catalog  e.g. number of tuples in each relation, size of tuples, etc</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6"/>
          <p:cNvSpPr txBox="1"/>
          <p:nvPr>
            <p:ph idx="1" type="body"/>
          </p:nvPr>
        </p:nvSpPr>
        <p:spPr>
          <a:xfrm>
            <a:off x="311700" y="635575"/>
            <a:ext cx="8520600" cy="3933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900"/>
              <a:t>Alternative ways of evaluating a given query </a:t>
            </a:r>
            <a:endParaRPr b="1" sz="1900"/>
          </a:p>
          <a:p>
            <a:pPr indent="0" lvl="0" marL="0" rtl="0" algn="l">
              <a:spcBef>
                <a:spcPts val="1200"/>
              </a:spcBef>
              <a:spcAft>
                <a:spcPts val="0"/>
              </a:spcAft>
              <a:buNone/>
            </a:pPr>
            <a:r>
              <a:rPr lang="en"/>
              <a:t>● Equivalent expressions </a:t>
            </a:r>
            <a:endParaRPr/>
          </a:p>
          <a:p>
            <a:pPr indent="0" lvl="0" marL="0" rtl="0" algn="l">
              <a:spcBef>
                <a:spcPts val="1200"/>
              </a:spcBef>
              <a:spcAft>
                <a:spcPts val="1200"/>
              </a:spcAft>
              <a:buNone/>
            </a:pPr>
            <a:r>
              <a:rPr lang="en"/>
              <a:t>● Different algorithms for each operation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7"/>
          <p:cNvSpPr txBox="1"/>
          <p:nvPr>
            <p:ph type="title"/>
          </p:nvPr>
        </p:nvSpPr>
        <p:spPr>
          <a:xfrm>
            <a:off x="226525" y="0"/>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Query Tree</a:t>
            </a:r>
            <a:endParaRPr/>
          </a:p>
        </p:txBody>
      </p:sp>
      <p:pic>
        <p:nvPicPr>
          <p:cNvPr id="147" name="Google Shape;147;p27"/>
          <p:cNvPicPr preferRelativeResize="0"/>
          <p:nvPr/>
        </p:nvPicPr>
        <p:blipFill>
          <a:blip r:embed="rId3">
            <a:alphaModFix/>
          </a:blip>
          <a:stretch>
            <a:fillRect/>
          </a:stretch>
        </p:blipFill>
        <p:spPr>
          <a:xfrm>
            <a:off x="831850" y="636302"/>
            <a:ext cx="6814176" cy="437799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pic>
        <p:nvPicPr>
          <p:cNvPr id="152" name="Google Shape;152;p28"/>
          <p:cNvPicPr preferRelativeResize="0"/>
          <p:nvPr/>
        </p:nvPicPr>
        <p:blipFill>
          <a:blip r:embed="rId3">
            <a:alphaModFix/>
          </a:blip>
          <a:stretch>
            <a:fillRect/>
          </a:stretch>
        </p:blipFill>
        <p:spPr>
          <a:xfrm>
            <a:off x="464100" y="0"/>
            <a:ext cx="7951974" cy="49641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pic>
        <p:nvPicPr>
          <p:cNvPr id="157" name="Google Shape;157;p29"/>
          <p:cNvPicPr preferRelativeResize="0"/>
          <p:nvPr/>
        </p:nvPicPr>
        <p:blipFill>
          <a:blip r:embed="rId3">
            <a:alphaModFix/>
          </a:blip>
          <a:stretch>
            <a:fillRect/>
          </a:stretch>
        </p:blipFill>
        <p:spPr>
          <a:xfrm>
            <a:off x="609600" y="152400"/>
            <a:ext cx="7559073" cy="483869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pic>
        <p:nvPicPr>
          <p:cNvPr id="162" name="Google Shape;162;p30"/>
          <p:cNvPicPr preferRelativeResize="0"/>
          <p:nvPr/>
        </p:nvPicPr>
        <p:blipFill>
          <a:blip r:embed="rId3">
            <a:alphaModFix/>
          </a:blip>
          <a:stretch>
            <a:fillRect/>
          </a:stretch>
        </p:blipFill>
        <p:spPr>
          <a:xfrm>
            <a:off x="152400" y="152400"/>
            <a:ext cx="8184151" cy="48387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31"/>
          <p:cNvSpPr txBox="1"/>
          <p:nvPr>
            <p:ph type="title"/>
          </p:nvPr>
        </p:nvSpPr>
        <p:spPr>
          <a:xfrm>
            <a:off x="311700" y="0"/>
            <a:ext cx="8520600" cy="1152300"/>
          </a:xfrm>
          <a:prstGeom prst="rect">
            <a:avLst/>
          </a:prstGeom>
        </p:spPr>
        <p:txBody>
          <a:bodyPr anchorCtr="0" anchor="t" bIns="91425" lIns="91425" spcFirstLastPara="1" rIns="91425" wrap="square" tIns="91425">
            <a:normAutofit fontScale="90000"/>
          </a:bodyPr>
          <a:lstStyle/>
          <a:p>
            <a:pPr indent="-337185" lvl="0" marL="457200" marR="25400" rtl="0" algn="l">
              <a:lnSpc>
                <a:spcPct val="156250"/>
              </a:lnSpc>
              <a:spcBef>
                <a:spcPts val="1500"/>
              </a:spcBef>
              <a:spcAft>
                <a:spcPts val="0"/>
              </a:spcAft>
              <a:buClr>
                <a:srgbClr val="000000"/>
              </a:buClr>
              <a:buSzPct val="100000"/>
              <a:buFont typeface="Roboto"/>
              <a:buChar char="○"/>
            </a:pPr>
            <a:r>
              <a:rPr lang="en" sz="1900">
                <a:solidFill>
                  <a:srgbClr val="000000"/>
                </a:solidFill>
                <a:highlight>
                  <a:srgbClr val="FFFFFF"/>
                </a:highlight>
                <a:latin typeface="Roboto"/>
                <a:ea typeface="Roboto"/>
                <a:cs typeface="Roboto"/>
                <a:sym typeface="Roboto"/>
              </a:rPr>
              <a:t>π</a:t>
            </a:r>
            <a:r>
              <a:rPr baseline="-25000" lang="en" sz="1900">
                <a:solidFill>
                  <a:srgbClr val="000000"/>
                </a:solidFill>
                <a:highlight>
                  <a:srgbClr val="FFFFFF"/>
                </a:highlight>
                <a:latin typeface="Roboto"/>
                <a:ea typeface="Roboto"/>
                <a:cs typeface="Roboto"/>
                <a:sym typeface="Roboto"/>
              </a:rPr>
              <a:t>customer_name</a:t>
            </a:r>
            <a:r>
              <a:rPr lang="en" sz="1900">
                <a:solidFill>
                  <a:srgbClr val="000000"/>
                </a:solidFill>
                <a:highlight>
                  <a:srgbClr val="FFFFFF"/>
                </a:highlight>
                <a:latin typeface="Roboto"/>
                <a:ea typeface="Roboto"/>
                <a:cs typeface="Roboto"/>
                <a:sym typeface="Roboto"/>
              </a:rPr>
              <a:t> (π</a:t>
            </a:r>
            <a:r>
              <a:rPr baseline="-25000" lang="en" sz="1900">
                <a:solidFill>
                  <a:srgbClr val="000000"/>
                </a:solidFill>
                <a:highlight>
                  <a:srgbClr val="FFFFFF"/>
                </a:highlight>
                <a:latin typeface="Roboto"/>
                <a:ea typeface="Roboto"/>
                <a:cs typeface="Roboto"/>
                <a:sym typeface="Roboto"/>
              </a:rPr>
              <a:t>salary</a:t>
            </a:r>
            <a:r>
              <a:rPr lang="en" sz="1900">
                <a:solidFill>
                  <a:srgbClr val="000000"/>
                </a:solidFill>
                <a:highlight>
                  <a:srgbClr val="FFFFFF"/>
                </a:highlight>
                <a:latin typeface="Roboto"/>
                <a:ea typeface="Roboto"/>
                <a:cs typeface="Roboto"/>
                <a:sym typeface="Roboto"/>
              </a:rPr>
              <a:t> ((σ</a:t>
            </a:r>
            <a:r>
              <a:rPr baseline="-25000" lang="en" sz="1900">
                <a:solidFill>
                  <a:srgbClr val="000000"/>
                </a:solidFill>
                <a:highlight>
                  <a:srgbClr val="FFFFFF"/>
                </a:highlight>
                <a:latin typeface="Roboto"/>
                <a:ea typeface="Roboto"/>
                <a:cs typeface="Roboto"/>
                <a:sym typeface="Roboto"/>
              </a:rPr>
              <a:t>branch_city=”Brooklyn” </a:t>
            </a:r>
            <a:r>
              <a:rPr lang="en" sz="1900">
                <a:solidFill>
                  <a:srgbClr val="000000"/>
                </a:solidFill>
                <a:highlight>
                  <a:srgbClr val="FFFFFF"/>
                </a:highlight>
                <a:latin typeface="Roboto"/>
                <a:ea typeface="Roboto"/>
                <a:cs typeface="Roboto"/>
                <a:sym typeface="Roboto"/>
              </a:rPr>
              <a:t>(branch )⋈(account ⋈ depositor))</a:t>
            </a:r>
            <a:endParaRPr sz="1900">
              <a:solidFill>
                <a:srgbClr val="000000"/>
              </a:solidFill>
              <a:highlight>
                <a:srgbClr val="FFFFFF"/>
              </a:highlight>
              <a:latin typeface="Roboto"/>
              <a:ea typeface="Roboto"/>
              <a:cs typeface="Roboto"/>
              <a:sym typeface="Roboto"/>
            </a:endParaRPr>
          </a:p>
          <a:p>
            <a:pPr indent="-337185" lvl="0" marL="457200" marR="25400" rtl="0" algn="l">
              <a:lnSpc>
                <a:spcPct val="156250"/>
              </a:lnSpc>
              <a:spcBef>
                <a:spcPts val="0"/>
              </a:spcBef>
              <a:spcAft>
                <a:spcPts val="0"/>
              </a:spcAft>
              <a:buClr>
                <a:srgbClr val="000000"/>
              </a:buClr>
              <a:buSzPct val="100000"/>
              <a:buFont typeface="Roboto"/>
              <a:buChar char="○"/>
            </a:pPr>
            <a:r>
              <a:rPr lang="en" sz="1900">
                <a:solidFill>
                  <a:srgbClr val="000000"/>
                </a:solidFill>
                <a:highlight>
                  <a:srgbClr val="FFFFFF"/>
                </a:highlight>
                <a:latin typeface="Roboto"/>
                <a:ea typeface="Roboto"/>
                <a:cs typeface="Roboto"/>
                <a:sym typeface="Roboto"/>
              </a:rPr>
              <a:t>π</a:t>
            </a:r>
            <a:r>
              <a:rPr baseline="-25000" lang="en" sz="1900">
                <a:solidFill>
                  <a:srgbClr val="000000"/>
                </a:solidFill>
                <a:highlight>
                  <a:srgbClr val="FFFFFF"/>
                </a:highlight>
                <a:latin typeface="Roboto"/>
                <a:ea typeface="Roboto"/>
                <a:cs typeface="Roboto"/>
                <a:sym typeface="Roboto"/>
              </a:rPr>
              <a:t>customer_name</a:t>
            </a:r>
            <a:r>
              <a:rPr lang="en" sz="1900">
                <a:solidFill>
                  <a:srgbClr val="000000"/>
                </a:solidFill>
                <a:highlight>
                  <a:srgbClr val="FFFFFF"/>
                </a:highlight>
                <a:latin typeface="Roboto"/>
                <a:ea typeface="Roboto"/>
                <a:cs typeface="Roboto"/>
                <a:sym typeface="Roboto"/>
              </a:rPr>
              <a:t> (σ</a:t>
            </a:r>
            <a:r>
              <a:rPr baseline="-25000" lang="en" sz="1900">
                <a:solidFill>
                  <a:srgbClr val="000000"/>
                </a:solidFill>
                <a:highlight>
                  <a:srgbClr val="FFFFFF"/>
                </a:highlight>
                <a:latin typeface="Roboto"/>
                <a:ea typeface="Roboto"/>
                <a:cs typeface="Roboto"/>
                <a:sym typeface="Roboto"/>
              </a:rPr>
              <a:t>branch_city=”Brooklyn”</a:t>
            </a:r>
            <a:r>
              <a:rPr lang="en" sz="1900">
                <a:solidFill>
                  <a:srgbClr val="000000"/>
                </a:solidFill>
                <a:highlight>
                  <a:srgbClr val="FFFFFF"/>
                </a:highlight>
                <a:latin typeface="Roboto"/>
                <a:ea typeface="Roboto"/>
                <a:cs typeface="Roboto"/>
                <a:sym typeface="Roboto"/>
              </a:rPr>
              <a:t> (branch ⋈ account ⋈ depositor ))</a:t>
            </a:r>
            <a:endParaRPr/>
          </a:p>
        </p:txBody>
      </p:sp>
      <p:pic>
        <p:nvPicPr>
          <p:cNvPr id="168" name="Google Shape;168;p31"/>
          <p:cNvPicPr preferRelativeResize="0"/>
          <p:nvPr/>
        </p:nvPicPr>
        <p:blipFill>
          <a:blip r:embed="rId3">
            <a:alphaModFix/>
          </a:blip>
          <a:stretch>
            <a:fillRect/>
          </a:stretch>
        </p:blipFill>
        <p:spPr>
          <a:xfrm>
            <a:off x="0" y="1503549"/>
            <a:ext cx="9143998" cy="363995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2"/>
          <p:cNvSpPr txBox="1"/>
          <p:nvPr>
            <p:ph type="title"/>
          </p:nvPr>
        </p:nvSpPr>
        <p:spPr>
          <a:xfrm>
            <a:off x="170475" y="0"/>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Generating Equivalent Expressions</a:t>
            </a:r>
            <a:endParaRPr/>
          </a:p>
        </p:txBody>
      </p:sp>
      <p:sp>
        <p:nvSpPr>
          <p:cNvPr id="174" name="Google Shape;174;p32"/>
          <p:cNvSpPr txBox="1"/>
          <p:nvPr>
            <p:ph idx="1" type="body"/>
          </p:nvPr>
        </p:nvSpPr>
        <p:spPr>
          <a:xfrm>
            <a:off x="311700" y="707400"/>
            <a:ext cx="8520600" cy="43656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None/>
            </a:pPr>
            <a:r>
              <a:rPr b="1" lang="en" sz="1900"/>
              <a:t>Transformation of Relational Expressions</a:t>
            </a:r>
            <a:endParaRPr b="1" sz="1900"/>
          </a:p>
          <a:p>
            <a:pPr indent="0" lvl="0" marL="0" rtl="0" algn="l">
              <a:lnSpc>
                <a:spcPct val="95000"/>
              </a:lnSpc>
              <a:spcBef>
                <a:spcPts val="1200"/>
              </a:spcBef>
              <a:spcAft>
                <a:spcPts val="0"/>
              </a:spcAft>
              <a:buNone/>
            </a:pPr>
            <a:r>
              <a:rPr lang="en" sz="1900"/>
              <a:t>Two relational algebra expressions are said to be equivalent if the two expressions generate the same set of tuples on every legal database instance </a:t>
            </a:r>
            <a:endParaRPr sz="1900"/>
          </a:p>
          <a:p>
            <a:pPr indent="457200" lvl="0" marL="0" rtl="0" algn="l">
              <a:lnSpc>
                <a:spcPct val="95000"/>
              </a:lnSpc>
              <a:spcBef>
                <a:spcPts val="1200"/>
              </a:spcBef>
              <a:spcAft>
                <a:spcPts val="0"/>
              </a:spcAft>
              <a:buNone/>
            </a:pPr>
            <a:r>
              <a:rPr lang="en" sz="1900"/>
              <a:t>● Note: order of tuples is irrelevant</a:t>
            </a:r>
            <a:endParaRPr sz="1900"/>
          </a:p>
          <a:p>
            <a:pPr indent="0" lvl="0" marL="0" rtl="0" algn="l">
              <a:lnSpc>
                <a:spcPct val="95000"/>
              </a:lnSpc>
              <a:spcBef>
                <a:spcPts val="1200"/>
              </a:spcBef>
              <a:spcAft>
                <a:spcPts val="0"/>
              </a:spcAft>
              <a:buNone/>
            </a:pPr>
            <a:r>
              <a:rPr lang="en" sz="1900"/>
              <a:t>In SQL, inputs and outputs are multisets of tuples </a:t>
            </a:r>
            <a:endParaRPr sz="1900"/>
          </a:p>
          <a:p>
            <a:pPr indent="0" lvl="0" marL="457200" rtl="0" algn="l">
              <a:lnSpc>
                <a:spcPct val="95000"/>
              </a:lnSpc>
              <a:spcBef>
                <a:spcPts val="1200"/>
              </a:spcBef>
              <a:spcAft>
                <a:spcPts val="0"/>
              </a:spcAft>
              <a:buNone/>
            </a:pPr>
            <a:r>
              <a:rPr lang="en" sz="1900"/>
              <a:t>● Two expressions in the multiset version of the relational algebra are said to be equivalent if the two expressions generate the same multiset of tuples on every legal database instance. </a:t>
            </a:r>
            <a:endParaRPr sz="1900"/>
          </a:p>
          <a:p>
            <a:pPr indent="0" lvl="0" marL="0" rtl="0" algn="l">
              <a:lnSpc>
                <a:spcPct val="95000"/>
              </a:lnSpc>
              <a:spcBef>
                <a:spcPts val="1200"/>
              </a:spcBef>
              <a:spcAft>
                <a:spcPts val="0"/>
              </a:spcAft>
              <a:buNone/>
            </a:pPr>
            <a:r>
              <a:rPr lang="en" sz="1900"/>
              <a:t>An equivalence rule says that expressions of two forms are equivalent </a:t>
            </a:r>
            <a:endParaRPr sz="1900"/>
          </a:p>
          <a:p>
            <a:pPr indent="457200" lvl="0" marL="0" rtl="0" algn="l">
              <a:lnSpc>
                <a:spcPct val="95000"/>
              </a:lnSpc>
              <a:spcBef>
                <a:spcPts val="1200"/>
              </a:spcBef>
              <a:spcAft>
                <a:spcPts val="0"/>
              </a:spcAft>
              <a:buNone/>
            </a:pPr>
            <a:r>
              <a:rPr lang="en" sz="1900"/>
              <a:t>● Can replace expression of first form by second, or vice versa</a:t>
            </a:r>
            <a:endParaRPr sz="1900"/>
          </a:p>
          <a:p>
            <a:pPr indent="0" lvl="0" marL="0" rtl="0" algn="l">
              <a:lnSpc>
                <a:spcPct val="95000"/>
              </a:lnSpc>
              <a:spcBef>
                <a:spcPts val="1200"/>
              </a:spcBef>
              <a:spcAft>
                <a:spcPts val="1200"/>
              </a:spcAft>
              <a:buNone/>
            </a:pPr>
            <a:r>
              <a:t/>
            </a:r>
            <a:endParaRPr sz="19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pic>
        <p:nvPicPr>
          <p:cNvPr id="179" name="Google Shape;179;p33"/>
          <p:cNvPicPr preferRelativeResize="0"/>
          <p:nvPr/>
        </p:nvPicPr>
        <p:blipFill>
          <a:blip r:embed="rId3">
            <a:alphaModFix/>
          </a:blip>
          <a:stretch>
            <a:fillRect/>
          </a:stretch>
        </p:blipFill>
        <p:spPr>
          <a:xfrm>
            <a:off x="409575" y="0"/>
            <a:ext cx="7701102" cy="49669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pic>
        <p:nvPicPr>
          <p:cNvPr id="184" name="Google Shape;184;p34"/>
          <p:cNvPicPr preferRelativeResize="0"/>
          <p:nvPr/>
        </p:nvPicPr>
        <p:blipFill>
          <a:blip r:embed="rId3">
            <a:alphaModFix/>
          </a:blip>
          <a:stretch>
            <a:fillRect/>
          </a:stretch>
        </p:blipFill>
        <p:spPr>
          <a:xfrm>
            <a:off x="996975" y="5875"/>
            <a:ext cx="7610399" cy="498462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pic>
        <p:nvPicPr>
          <p:cNvPr id="189" name="Google Shape;189;p35"/>
          <p:cNvPicPr preferRelativeResize="0"/>
          <p:nvPr/>
        </p:nvPicPr>
        <p:blipFill>
          <a:blip r:embed="rId3">
            <a:alphaModFix/>
          </a:blip>
          <a:stretch>
            <a:fillRect/>
          </a:stretch>
        </p:blipFill>
        <p:spPr>
          <a:xfrm>
            <a:off x="953375" y="0"/>
            <a:ext cx="6949349" cy="502579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pic>
        <p:nvPicPr>
          <p:cNvPr id="194" name="Google Shape;194;p36"/>
          <p:cNvPicPr preferRelativeResize="0"/>
          <p:nvPr/>
        </p:nvPicPr>
        <p:blipFill>
          <a:blip r:embed="rId3">
            <a:alphaModFix/>
          </a:blip>
          <a:stretch>
            <a:fillRect/>
          </a:stretch>
        </p:blipFill>
        <p:spPr>
          <a:xfrm>
            <a:off x="411950" y="0"/>
            <a:ext cx="8372199" cy="50212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pic>
        <p:nvPicPr>
          <p:cNvPr id="199" name="Google Shape;199;p37"/>
          <p:cNvPicPr preferRelativeResize="0"/>
          <p:nvPr/>
        </p:nvPicPr>
        <p:blipFill>
          <a:blip r:embed="rId3">
            <a:alphaModFix/>
          </a:blip>
          <a:stretch>
            <a:fillRect/>
          </a:stretch>
        </p:blipFill>
        <p:spPr>
          <a:xfrm>
            <a:off x="609600" y="152400"/>
            <a:ext cx="7476371" cy="48387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pic>
        <p:nvPicPr>
          <p:cNvPr id="204" name="Google Shape;204;p38"/>
          <p:cNvPicPr preferRelativeResize="0"/>
          <p:nvPr/>
        </p:nvPicPr>
        <p:blipFill>
          <a:blip r:embed="rId3">
            <a:alphaModFix/>
          </a:blip>
          <a:stretch>
            <a:fillRect/>
          </a:stretch>
        </p:blipFill>
        <p:spPr>
          <a:xfrm>
            <a:off x="646750" y="0"/>
            <a:ext cx="5909151" cy="5008549"/>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40"/>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14" name="Google Shape;214;p40"/>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