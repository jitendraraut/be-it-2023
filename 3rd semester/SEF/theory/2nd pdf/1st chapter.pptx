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8" r:id="rId2"/>
    <p:sldId id="259" r:id="rId3"/>
    <p:sldId id="260" r:id="rId4"/>
    <p:sldId id="263" r:id="rId5"/>
    <p:sldId id="261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90" r:id="rId17"/>
    <p:sldId id="292" r:id="rId18"/>
    <p:sldId id="293" r:id="rId19"/>
    <p:sldId id="291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9" r:id="rId31"/>
    <p:sldId id="285" r:id="rId32"/>
    <p:sldId id="286" r:id="rId33"/>
    <p:sldId id="287" r:id="rId34"/>
    <p:sldId id="294" r:id="rId35"/>
    <p:sldId id="295" r:id="rId36"/>
    <p:sldId id="296" r:id="rId37"/>
    <p:sldId id="297" r:id="rId38"/>
    <p:sldId id="298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>
      <p:cViewPr>
        <p:scale>
          <a:sx n="120" d="100"/>
          <a:sy n="120" d="100"/>
        </p:scale>
        <p:origin x="-226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A7CB9-5746-4C3B-9134-2D88655D6C33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9554E-3399-41D3-9D51-F69337496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4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B15C0-AA10-495D-8076-0A7942BB76E7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B3C8-6B35-45A4-AA02-6D685559E0EA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19A8-0567-46A6-8C30-A438C2ECCD18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08BA-C973-4D84-84D1-52A7AD9812B7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854B-B750-462C-A3D4-7C19608ECF36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25CD-C968-4195-91E8-99060BCD7753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7DC78-7D84-49B7-B589-30095372BF11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5A9C5-0544-4BDB-A464-EE7037DDBF8C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D01D-E987-4C5B-9C51-F82679A9B508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62B57-B8B5-4294-8671-B319BD288336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5EE26-C058-4AA5-A70A-F134B92F4ABE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36C4D-6BE6-427A-A470-7C4877A4A924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86F29-1F0B-4E2A-A6C5-E893792F01D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Definition of software  </a:t>
            </a:r>
          </a:p>
          <a:p>
            <a:r>
              <a:rPr lang="en-US" dirty="0" smtClean="0"/>
              <a:t>Software Engineering vs. Computer Science</a:t>
            </a:r>
          </a:p>
          <a:p>
            <a:r>
              <a:rPr lang="en-US" dirty="0" smtClean="0"/>
              <a:t>Failure curve of  Hardware and software</a:t>
            </a:r>
          </a:p>
          <a:p>
            <a:r>
              <a:rPr lang="en-US" dirty="0" smtClean="0"/>
              <a:t>Software Myths </a:t>
            </a:r>
          </a:p>
          <a:p>
            <a:r>
              <a:rPr lang="en-US" dirty="0" smtClean="0"/>
              <a:t>Software development life cycle (SDLC)</a:t>
            </a:r>
          </a:p>
          <a:p>
            <a:r>
              <a:rPr lang="en-US" dirty="0" smtClean="0"/>
              <a:t>Software Development  methods 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C7E2-F437-4820-9A32-92A2D90CD15C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Software</a:t>
            </a:r>
            <a:r>
              <a:rPr lang="en-US" dirty="0" smtClean="0"/>
              <a:t> (set of instruction + design diagrams+ necessary databases)</a:t>
            </a:r>
          </a:p>
          <a:p>
            <a:r>
              <a:rPr lang="en-US" b="1" dirty="0" smtClean="0"/>
              <a:t>Software Engineering </a:t>
            </a:r>
            <a:r>
              <a:rPr lang="en-US" dirty="0" smtClean="0"/>
              <a:t>: Creation and design of the software .</a:t>
            </a:r>
          </a:p>
          <a:p>
            <a:r>
              <a:rPr lang="en-US" b="1" dirty="0" smtClean="0"/>
              <a:t>Computer Science</a:t>
            </a:r>
            <a:r>
              <a:rPr lang="en-US" dirty="0" smtClean="0"/>
              <a:t>:</a:t>
            </a:r>
            <a:r>
              <a:rPr lang="en-US" dirty="0"/>
              <a:t> </a:t>
            </a:r>
            <a:r>
              <a:rPr lang="en-US" dirty="0" smtClean="0"/>
              <a:t>Broad </a:t>
            </a:r>
            <a:r>
              <a:rPr lang="en-US" dirty="0"/>
              <a:t>approach to the study of the principles and use of computers that covers both theory and application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41FF-F49C-4AEE-BE90-237A0F76E3B0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None/>
            </a:pPr>
            <a:r>
              <a:rPr lang="en-US" sz="2800" dirty="0" smtClean="0"/>
              <a:t>software has characteristics that are considerably different than those of hardware:</a:t>
            </a:r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Software is developed ; it is not manufactured (</a:t>
            </a:r>
            <a:r>
              <a:rPr lang="en-US" sz="1700" i="1" dirty="0" smtClean="0"/>
              <a:t>Both process focuses to achieve high quality, for hardware can introduce quality problems that are nonexistent for a software</a:t>
            </a:r>
            <a:r>
              <a:rPr lang="en-US" dirty="0" smtClean="0"/>
              <a:t>)</a:t>
            </a:r>
          </a:p>
          <a:p>
            <a:pPr marL="514350" indent="-514350">
              <a:buAutoNum type="arabicPeriod"/>
            </a:pPr>
            <a:r>
              <a:rPr lang="en-US" dirty="0" smtClean="0"/>
              <a:t>Software doesn’t “wear out.”</a:t>
            </a:r>
          </a:p>
          <a:p>
            <a:pPr marL="514350" indent="-514350">
              <a:buNone/>
            </a:pPr>
            <a:r>
              <a:rPr lang="en-US" dirty="0" smtClean="0"/>
              <a:t> </a:t>
            </a:r>
          </a:p>
          <a:p>
            <a:pPr marL="514350" indent="-514350">
              <a:buNone/>
            </a:pPr>
            <a:r>
              <a:rPr lang="en-US" dirty="0" smtClean="0"/>
              <a:t>3. Software is custom build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46AE-532B-4114-8D56-279D80791449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software 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41230" y="1905000"/>
            <a:ext cx="8345570" cy="3953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838200" y="3810000"/>
            <a:ext cx="1600200" cy="2362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2. Software doesn’t wear out but it does deteriorates  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49B6-E7D3-411D-906A-92515172F941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 Software 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42234" y="1981200"/>
            <a:ext cx="7787366" cy="4025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838200" y="5638800"/>
            <a:ext cx="73914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2. Software doesn't wear out but hardware  does  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6D705-E335-40E8-9564-297BAB09235E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Myths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b="1" dirty="0" smtClean="0"/>
              <a:t>Management myths</a:t>
            </a:r>
          </a:p>
          <a:p>
            <a:pPr>
              <a:buNone/>
            </a:pPr>
            <a:r>
              <a:rPr lang="en-US" dirty="0" smtClean="0"/>
              <a:t>Myth: We already have a book that’s full of standards and procedures for building software. Won’t that provide my people with everything they need to know?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000" i="1" dirty="0" smtClean="0"/>
              <a:t>Reality: Are software practitioners aware of its existence? Does it reflect modern software engineering practice? Is it complete? Is it adaptable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EA22-1E86-4410-AFBE-12B48EEB5906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Myths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/>
              <a:t>Management Myths</a:t>
            </a:r>
          </a:p>
          <a:p>
            <a:pPr>
              <a:buNone/>
            </a:pPr>
            <a:r>
              <a:rPr lang="en-US" dirty="0" smtClean="0"/>
              <a:t>Myth :If we get behind schedule, we can add more programmers and catch up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400" i="1" dirty="0" smtClean="0"/>
              <a:t>Reality :new people are added, people who were working must spend time educating the newcomers, thereby reducing the amount of time spent on productive development effort</a:t>
            </a:r>
            <a:endParaRPr lang="en-US" sz="24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F54C1-8A81-4696-9F0D-895BBA25BB69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Myths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/>
              <a:t>Management Myth </a:t>
            </a:r>
          </a:p>
          <a:p>
            <a:pPr>
              <a:buNone/>
            </a:pPr>
            <a:r>
              <a:rPr lang="en-US" dirty="0" smtClean="0"/>
              <a:t>Myth: If I decide to outsource the software project to a third party, I can just relax and let that firm build it.</a:t>
            </a:r>
          </a:p>
          <a:p>
            <a:endParaRPr lang="en-US" dirty="0" smtClean="0"/>
          </a:p>
          <a:p>
            <a:pPr>
              <a:buNone/>
            </a:pPr>
            <a:r>
              <a:rPr lang="en-US" sz="2000" i="1" dirty="0" smtClean="0"/>
              <a:t>Reality: If an organization does not understand how to manage and control software projects internally, it will invariably struggle when it outsources software projects.</a:t>
            </a:r>
            <a:endParaRPr lang="en-US" sz="20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B1091-BB43-483B-8B3E-2573E2168053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Myths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b="1" dirty="0" smtClean="0"/>
              <a:t>Customer myths</a:t>
            </a:r>
          </a:p>
          <a:p>
            <a:pPr>
              <a:buNone/>
            </a:pPr>
            <a:r>
              <a:rPr lang="en-US" dirty="0" smtClean="0"/>
              <a:t>Myth: A general statement of objectives is sufficient to begin writing programs—we can fill in the details later.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i="1" dirty="0" smtClean="0"/>
              <a:t>Reality: an ambiguous “statement of objectives” is a recipe for disaster.</a:t>
            </a:r>
            <a:endParaRPr lang="en-US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ABCC5-4A59-449D-97E5-5611DD3D5334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Myths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b="1" dirty="0" smtClean="0"/>
              <a:t>Customer </a:t>
            </a:r>
          </a:p>
          <a:p>
            <a:pPr>
              <a:buNone/>
            </a:pPr>
            <a:r>
              <a:rPr lang="en-US" dirty="0" smtClean="0"/>
              <a:t>Myth: Software requirements continually change, but change can be easily accommodated because software is flexible.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600" i="1" dirty="0" smtClean="0"/>
              <a:t>Reality :When requirements changes are requested early (before design or code has been started), the cost impact is relatively  small. However, as time passes, the cost impact grows rapidly</a:t>
            </a:r>
            <a:endParaRPr lang="en-US" sz="26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E4C70-EA33-4D35-BBF5-1F3160FE627B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Myths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	Practitioner’s myths.</a:t>
            </a:r>
          </a:p>
          <a:p>
            <a:pPr>
              <a:buNone/>
            </a:pPr>
            <a:r>
              <a:rPr lang="en-US" dirty="0" smtClean="0"/>
              <a:t>Myth: Once we write the program and get it to work, our job is done</a:t>
            </a:r>
          </a:p>
          <a:p>
            <a:pPr>
              <a:buNone/>
            </a:pPr>
            <a:r>
              <a:rPr lang="en-US" sz="2400" i="1" dirty="0" smtClean="0"/>
              <a:t>Reality: Industry data indicate that between 60 and 80 percent of all effort expended on software will be expended after it is delivered to the customer for the first time</a:t>
            </a:r>
            <a:endParaRPr lang="en-US" sz="24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CA487-D3EB-4115-9959-4E66097E89AB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Myths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		Practitioner’s myths </a:t>
            </a:r>
          </a:p>
          <a:p>
            <a:pPr>
              <a:buNone/>
            </a:pPr>
            <a:r>
              <a:rPr lang="en-US" dirty="0" smtClean="0"/>
              <a:t>Myth: Until I get the program “running” I have no way of assessing its quality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Reality: Quality focuses from at the time of requirement analysis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ED698-AD8A-45DE-ABFF-188468518C68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Myths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Myth: The only deliverable work product for a successful project is the working program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200" i="1" dirty="0" smtClean="0"/>
              <a:t>Reality: A variety of work products (e.g., models, documents, plans) provide a foundation for successful engineering and, more important, guidance for software support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B016C-2D5C-4597-96B6-58648CC445EF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Myths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			Practitioners Myths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Myth: Software engineering will make us create voluminous and unnecessary documentation and will invariably slow us down.</a:t>
            </a:r>
          </a:p>
          <a:p>
            <a:r>
              <a:rPr lang="en-US" dirty="0" smtClean="0"/>
              <a:t> Reality: Software engineering is not about creating documents. It is about creating a quality product. Better quality leads to reduced rework. And reduced rework results in faster delivery times.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08083-1E8B-45A5-AA22-C6BCED90DF4C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Software Development Life Cycle (SDLC)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21930" y="1600200"/>
            <a:ext cx="690014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A5F2-BE03-4A66-8D29-7D14FB55C794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Process Framework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1417638"/>
            <a:ext cx="4572000" cy="470852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B3C8-6B35-45A4-AA02-6D685559E0EA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65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Umbrella Activities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Software Project Management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Formal Technical Review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Software Quality Assurance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Software Configuration Management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Documentation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Reusability Management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Measurement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Risk Management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B3C8-6B35-45A4-AA02-6D685559E0EA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77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 smtClean="0"/>
              <a:t>Process Flow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371601"/>
            <a:ext cx="6950087" cy="498475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B3C8-6B35-45A4-AA02-6D685559E0EA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41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Generic Process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Communication </a:t>
            </a:r>
          </a:p>
          <a:p>
            <a:r>
              <a:rPr lang="en-US" dirty="0"/>
              <a:t>P</a:t>
            </a:r>
            <a:r>
              <a:rPr lang="en-US" dirty="0" smtClean="0"/>
              <a:t>lanning </a:t>
            </a:r>
          </a:p>
          <a:p>
            <a:r>
              <a:rPr lang="en-US" dirty="0"/>
              <a:t>M</a:t>
            </a:r>
            <a:r>
              <a:rPr lang="en-US" dirty="0" smtClean="0"/>
              <a:t>odeling</a:t>
            </a:r>
          </a:p>
          <a:p>
            <a:r>
              <a:rPr lang="en-US" dirty="0" smtClean="0"/>
              <a:t> Construction</a:t>
            </a:r>
          </a:p>
          <a:p>
            <a:r>
              <a:rPr lang="en-US" dirty="0" smtClean="0"/>
              <a:t> Deployment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B3C8-6B35-45A4-AA02-6D685559E0EA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76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Process Model of Software Engineering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Waterfall model</a:t>
            </a:r>
          </a:p>
          <a:p>
            <a:pPr marL="514350" indent="-514350">
              <a:buAutoNum type="arabicPeriod"/>
            </a:pPr>
            <a:r>
              <a:rPr lang="en-US" dirty="0" smtClean="0"/>
              <a:t>Incremental model</a:t>
            </a:r>
          </a:p>
          <a:p>
            <a:pPr marL="514350" indent="-514350">
              <a:buAutoNum type="arabicPeriod"/>
            </a:pPr>
            <a:r>
              <a:rPr lang="en-US" dirty="0" smtClean="0"/>
              <a:t>Prototype model </a:t>
            </a:r>
          </a:p>
          <a:p>
            <a:pPr marL="514350" indent="-514350">
              <a:buAutoNum type="arabicPeriod"/>
            </a:pPr>
            <a:r>
              <a:rPr lang="en-US" dirty="0" smtClean="0"/>
              <a:t>Spiral  model </a:t>
            </a:r>
          </a:p>
          <a:p>
            <a:pPr marL="514350" indent="-514350">
              <a:buAutoNum type="arabicPeriod"/>
            </a:pPr>
            <a:r>
              <a:rPr lang="en-US" dirty="0" smtClean="0"/>
              <a:t>RAD model</a:t>
            </a:r>
          </a:p>
          <a:p>
            <a:pPr marL="514350" indent="-514350">
              <a:buAutoNum type="arabicPeriod"/>
            </a:pPr>
            <a:r>
              <a:rPr lang="en-US" dirty="0" smtClean="0"/>
              <a:t>Agile (Framework-&gt;Scrum)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8FB0-14A5-48CC-936C-6DE1D37572F5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Process model 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887156"/>
            <a:ext cx="8229600" cy="1952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143000" y="5181600"/>
            <a:ext cx="69342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Requirement are well understood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981200" y="2057400"/>
            <a:ext cx="4191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Waterfall model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27EB0-DB64-4531-A284-90710387C087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process model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2286000"/>
            <a:ext cx="7772400" cy="3659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028700" y="6096000"/>
            <a:ext cx="75438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  there may be a compelling need to provide a limited set of software functionality to users quickly and then refine and expand on that functionality in later software releases.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828800" y="1600200"/>
            <a:ext cx="4191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Incremental model 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8001000" y="1752600"/>
            <a:ext cx="1143000" cy="3276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When an incremental model is used, the first increment is often a core product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607A2-629D-45EF-83D7-442AA70A2294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SEF</a:t>
            </a:r>
            <a:r>
              <a:rPr lang="en-US" dirty="0" smtClean="0"/>
              <a:t>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Process model 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3239"/>
            <a:ext cx="8229600" cy="451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ounded Rectangle 4"/>
          <p:cNvSpPr/>
          <p:nvPr/>
        </p:nvSpPr>
        <p:spPr>
          <a:xfrm>
            <a:off x="304800" y="5257800"/>
            <a:ext cx="8534400" cy="1600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Often, a customer defines a set of general objectives for software, but does not identify detailed requirements for functions and features. In other cases, the developer may be unsure of the efficiency of an algorithm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438400" y="1828800"/>
            <a:ext cx="2286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Prototype model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D0811-234F-4F64-8162-897386E7553A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Software Process Model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0" y="5715000"/>
            <a:ext cx="7924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 spiral development model is a risk-driven process model generator that is used to guide multi-stakeholder concurrent engineering of software intensive systems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118719"/>
            <a:ext cx="8229600" cy="3488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362200" y="1600200"/>
            <a:ext cx="4191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Spiral Model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C1AF9-A42C-46A4-A822-1FE58C75B363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process model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133600" y="1828800"/>
            <a:ext cx="4800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Rapid Application Development </a:t>
            </a:r>
            <a:endParaRPr lang="en-US" dirty="0"/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2971800"/>
            <a:ext cx="7315200" cy="3360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124200" y="26670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60 to 90  days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535E7-6963-4ACA-B0AD-F837630BC743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process model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		</a:t>
            </a:r>
            <a:r>
              <a:rPr lang="en-US" b="1" dirty="0" smtClean="0"/>
              <a:t>Agile 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Agility has become today’s buzzword when describing a modern software process.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An agile team quickly respond to changes. 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Change is what software development is very much about.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Agility has </a:t>
            </a:r>
            <a:r>
              <a:rPr lang="en-US" b="1" dirty="0" smtClean="0"/>
              <a:t>12 principles </a:t>
            </a:r>
            <a:r>
              <a:rPr lang="en-US" dirty="0" smtClean="0"/>
              <a:t>and four guidelines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AAF9E-D7EF-4AD3-9A72-6ABFC38112E1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process model 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02030" y="2285999"/>
            <a:ext cx="7139940" cy="3828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2286000" y="1752600"/>
            <a:ext cx="44958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Agile  Process 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5C99-3A75-4160-9EFD-D2BF1AC05DCB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process model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		</a:t>
            </a:r>
            <a:r>
              <a:rPr lang="en-US" b="1" dirty="0" smtClean="0"/>
              <a:t>	Scrum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It is one of the popular framework for the agile software development </a:t>
            </a:r>
          </a:p>
          <a:p>
            <a:r>
              <a:rPr lang="en-US" dirty="0" smtClean="0"/>
              <a:t>If you go to scrum.org it defines its </a:t>
            </a:r>
            <a:r>
              <a:rPr lang="en-US" b="1" dirty="0" smtClean="0"/>
              <a:t>Better way Of Building Product.</a:t>
            </a:r>
          </a:p>
          <a:p>
            <a:r>
              <a:rPr lang="en-US" dirty="0" smtClean="0"/>
              <a:t>Other popular frameworks are </a:t>
            </a:r>
            <a:r>
              <a:rPr lang="en-US" dirty="0" err="1" smtClean="0"/>
              <a:t>Kanban</a:t>
            </a:r>
            <a:r>
              <a:rPr lang="en-US" dirty="0" smtClean="0"/>
              <a:t>, Extreme Programming (XP)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7AD85-9A40-4E3D-9D93-B24ACD532E75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process model 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55346"/>
            <a:ext cx="7982055" cy="4670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4118991" y="3244334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Backlog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56B9-986F-4524-A535-249D7113FCF8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process model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B3C8-6B35-45A4-AA02-6D685559E0EA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828800" y="1752600"/>
            <a:ext cx="434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Scrum process</a:t>
            </a:r>
          </a:p>
          <a:p>
            <a:pPr algn="ctr"/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2234127"/>
            <a:ext cx="7772400" cy="38920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		Backlog : </a:t>
            </a:r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Items can be added to the backlog at any time (this is how changes are introduced).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The </a:t>
            </a:r>
            <a:r>
              <a:rPr lang="en-US" sz="2000" b="1" dirty="0" smtClean="0"/>
              <a:t>product owner </a:t>
            </a:r>
            <a:r>
              <a:rPr lang="en-US" sz="2000" dirty="0" smtClean="0"/>
              <a:t>assesses the backlog and updates priorities as required. </a:t>
            </a:r>
            <a:endParaRPr lang="en-US" dirty="0" smtClean="0"/>
          </a:p>
          <a:p>
            <a:pPr algn="ctr">
              <a:buNone/>
            </a:pPr>
            <a:r>
              <a:rPr lang="en-US" dirty="0" smtClean="0"/>
              <a:t>Sprint: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consist of work units that are required to achieve a requirement defined in the backlog that must be fit into a predefined time-box(typically 30 days). </a:t>
            </a: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2D1E5-86DB-4EA7-AE3A-A94E35EFB87D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Scrum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				</a:t>
            </a:r>
            <a:r>
              <a:rPr lang="en-US" b="1" dirty="0" smtClean="0"/>
              <a:t>Scrum Meeting</a:t>
            </a:r>
          </a:p>
          <a:p>
            <a:pPr>
              <a:buNone/>
            </a:pPr>
            <a:r>
              <a:rPr lang="en-US" dirty="0" smtClean="0"/>
              <a:t>Scrum meetings are short (typically 15 minutes) meetings held daily by the Scrum team. </a:t>
            </a:r>
          </a:p>
          <a:p>
            <a:pPr>
              <a:buNone/>
            </a:pPr>
            <a:r>
              <a:rPr lang="en-US" dirty="0" smtClean="0"/>
              <a:t>Three key questions are asked and answered by all team members </a:t>
            </a:r>
          </a:p>
          <a:p>
            <a:pPr>
              <a:buNone/>
            </a:pPr>
            <a:r>
              <a:rPr lang="en-US" dirty="0" smtClean="0"/>
              <a:t> • What did you do since the last team meeting?</a:t>
            </a:r>
          </a:p>
          <a:p>
            <a:pPr>
              <a:buNone/>
            </a:pPr>
            <a:r>
              <a:rPr lang="en-US" dirty="0" smtClean="0"/>
              <a:t>• What obstacles are you encountering? </a:t>
            </a:r>
          </a:p>
          <a:p>
            <a:pPr>
              <a:buNone/>
            </a:pPr>
            <a:r>
              <a:rPr lang="en-US" dirty="0" smtClean="0"/>
              <a:t>• What do you plan to accomplish by the next team meeting?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AEA7A-90B5-4CEB-A4D5-754B5F1D0C0C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SCRUM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A team leader, </a:t>
            </a:r>
            <a:r>
              <a:rPr lang="en-US" b="1" dirty="0" smtClean="0"/>
              <a:t>Scrum master</a:t>
            </a:r>
            <a:r>
              <a:rPr lang="en-US" dirty="0" smtClean="0"/>
              <a:t>, leads the meeting and assesses the responses from each person. </a:t>
            </a:r>
          </a:p>
          <a:p>
            <a:r>
              <a:rPr lang="en-US" dirty="0" smtClean="0"/>
              <a:t>The Scrum meeting helps the team to uncover potential problems as early as possible.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b="1" dirty="0" smtClean="0"/>
              <a:t>Demos: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Deliver the software increment to the customer so that functionality that has been implemented can be demonstrated and evaluated by the customer. 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Demo may not contain all planned functionality, but rather those functions that can be delivered within the time-box that was established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EE829-A99E-4688-A447-3FFD023C863F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 Ps in software Engineering 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7937" y="2748756"/>
            <a:ext cx="4048125" cy="222885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B3C8-6B35-45A4-AA02-6D685559E0EA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22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People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People are the key factor in the software development 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following categories of people are involved in the software process.</a:t>
            </a:r>
          </a:p>
          <a:p>
            <a:pPr marL="1314450" indent="-457200">
              <a:tabLst>
                <a:tab pos="914400" algn="l"/>
              </a:tabLst>
            </a:pPr>
            <a:r>
              <a:rPr lang="en-US" dirty="0"/>
              <a:t>Senior Managers</a:t>
            </a:r>
          </a:p>
          <a:p>
            <a:pPr marL="1314450" indent="-457200">
              <a:tabLst>
                <a:tab pos="914400" algn="l"/>
              </a:tabLst>
            </a:pPr>
            <a:r>
              <a:rPr lang="en-US" dirty="0"/>
              <a:t>Project Managers</a:t>
            </a:r>
          </a:p>
          <a:p>
            <a:pPr marL="1314450" indent="-457200">
              <a:tabLst>
                <a:tab pos="914400" algn="l"/>
              </a:tabLst>
            </a:pPr>
            <a:r>
              <a:rPr lang="en-US" dirty="0" smtClean="0"/>
              <a:t>Practitioners--Developers</a:t>
            </a:r>
            <a:endParaRPr lang="en-US" dirty="0"/>
          </a:p>
          <a:p>
            <a:pPr marL="1314450" indent="-457200">
              <a:tabLst>
                <a:tab pos="914400" algn="l"/>
              </a:tabLst>
            </a:pPr>
            <a:r>
              <a:rPr lang="en-US" dirty="0"/>
              <a:t>Customers</a:t>
            </a:r>
          </a:p>
          <a:p>
            <a:pPr marL="1314450" indent="-457200">
              <a:tabLst>
                <a:tab pos="914400" algn="l"/>
              </a:tabLst>
            </a:pPr>
            <a:r>
              <a:rPr lang="en-US" dirty="0"/>
              <a:t>End Users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B3C8-6B35-45A4-AA02-6D685559E0EA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1572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Before a project can be planned, product objectives and scope should be established.</a:t>
            </a:r>
          </a:p>
          <a:p>
            <a:r>
              <a:rPr lang="en-US" dirty="0" smtClean="0"/>
              <a:t>Without product information it is impossible to define reasonable estimates of the cost.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B3C8-6B35-45A4-AA02-6D685559E0EA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0179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smtClean="0"/>
              <a:t> </a:t>
            </a:r>
            <a:r>
              <a:rPr lang="en-US" dirty="0"/>
              <a:t>method provides the framework from that a comprehensive arrange for </a:t>
            </a:r>
            <a:r>
              <a:rPr lang="en-US" dirty="0" smtClean="0"/>
              <a:t>development </a:t>
            </a:r>
            <a:r>
              <a:rPr lang="en-US" dirty="0"/>
              <a:t>is established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B3C8-6B35-45A4-AA02-6D685559E0EA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5730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conduct planned and controlled software projects to manage complexity of project.</a:t>
            </a:r>
          </a:p>
          <a:p>
            <a:r>
              <a:rPr lang="en-US" dirty="0" smtClean="0"/>
              <a:t>To avoid project failure a software project manager and software engineers who built the project must :</a:t>
            </a:r>
          </a:p>
          <a:p>
            <a:r>
              <a:rPr lang="en-US" dirty="0" smtClean="0"/>
              <a:t>Develop a common sense approach for planning, monitoring, and controlling the project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B3C8-6B35-45A4-AA02-6D685559E0EA}" type="datetime1">
              <a:rPr lang="en-US" smtClean="0"/>
              <a:t>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SEF online interaction class material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86F29-1F0B-4E2A-A6C5-E893792F01D8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124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3606</TotalTime>
  <Words>1004</Words>
  <Application>Microsoft Office PowerPoint</Application>
  <PresentationFormat>On-screen Show (4:3)</PresentationFormat>
  <Paragraphs>277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CHAPTER ONE</vt:lpstr>
      <vt:lpstr>PowerPoint Presentation</vt:lpstr>
      <vt:lpstr>Characteristics of Software</vt:lpstr>
      <vt:lpstr>Characteristics of software </vt:lpstr>
      <vt:lpstr>Characteristics of  Software </vt:lpstr>
      <vt:lpstr>Software Myths </vt:lpstr>
      <vt:lpstr>Software Myths </vt:lpstr>
      <vt:lpstr>Software Myths</vt:lpstr>
      <vt:lpstr>Software Myths</vt:lpstr>
      <vt:lpstr>Software Myths</vt:lpstr>
      <vt:lpstr>Software Myths </vt:lpstr>
      <vt:lpstr>Software Myths </vt:lpstr>
      <vt:lpstr>Software Myths</vt:lpstr>
      <vt:lpstr>Software Myths</vt:lpstr>
      <vt:lpstr>Software Development Life Cycle (SDLC)</vt:lpstr>
      <vt:lpstr> Process Framework</vt:lpstr>
      <vt:lpstr>Umbrella Activities </vt:lpstr>
      <vt:lpstr>Process Flow</vt:lpstr>
      <vt:lpstr>Generic Process Model</vt:lpstr>
      <vt:lpstr>Process Model of Software Engineering </vt:lpstr>
      <vt:lpstr>Software Process model </vt:lpstr>
      <vt:lpstr>Software process model</vt:lpstr>
      <vt:lpstr>Software Process model </vt:lpstr>
      <vt:lpstr> Software Process Model</vt:lpstr>
      <vt:lpstr>Software process model </vt:lpstr>
      <vt:lpstr>Software process model </vt:lpstr>
      <vt:lpstr>Software process model </vt:lpstr>
      <vt:lpstr>Software process model </vt:lpstr>
      <vt:lpstr>Software process model </vt:lpstr>
      <vt:lpstr>Software process model</vt:lpstr>
      <vt:lpstr>Scrum</vt:lpstr>
      <vt:lpstr>Scrum </vt:lpstr>
      <vt:lpstr>SCRUM </vt:lpstr>
      <vt:lpstr>Four Ps in software Engineering </vt:lpstr>
      <vt:lpstr>People </vt:lpstr>
      <vt:lpstr>Product </vt:lpstr>
      <vt:lpstr>Process</vt:lpstr>
      <vt:lpstr>Project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Administrator</cp:lastModifiedBy>
  <cp:revision>80</cp:revision>
  <dcterms:created xsi:type="dcterms:W3CDTF">2020-06-07T18:04:43Z</dcterms:created>
  <dcterms:modified xsi:type="dcterms:W3CDTF">2025-01-29T02:31:09Z</dcterms:modified>
</cp:coreProperties>
</file>