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7" r:id="rId2"/>
    <p:sldId id="259" r:id="rId3"/>
    <p:sldId id="258" r:id="rId4"/>
    <p:sldId id="280" r:id="rId5"/>
    <p:sldId id="260" r:id="rId6"/>
    <p:sldId id="261" r:id="rId7"/>
    <p:sldId id="263" r:id="rId8"/>
    <p:sldId id="264" r:id="rId9"/>
    <p:sldId id="265" r:id="rId10"/>
    <p:sldId id="279" r:id="rId11"/>
    <p:sldId id="267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1" r:id="rId25"/>
    <p:sldId id="282" r:id="rId26"/>
    <p:sldId id="283" r:id="rId27"/>
    <p:sldId id="284" r:id="rId28"/>
    <p:sldId id="28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-782" y="-2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6F81AE-4936-4C7C-ABB0-4FE5A546CC23}" type="datetimeFigureOut">
              <a:rPr lang="en-US" smtClean="0"/>
              <a:t>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9B4D85-E371-4454-A786-A468A236C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17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86D7C-0418-4BEE-8A07-89E7A22D671B}" type="datetime1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Book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839D-61E0-4A11-9F79-4E826DD12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444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44D6E-DD40-4F82-8760-11227C4CCD00}" type="datetime1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Book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839D-61E0-4A11-9F79-4E826DD12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151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AE02F-6998-411C-9F07-C2563CBD99EC}" type="datetime1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Book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839D-61E0-4A11-9F79-4E826DD12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94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7922-8282-4771-A42A-17814E4DA809}" type="datetime1">
              <a:rPr lang="en-US" smtClean="0"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Book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839D-61E0-4A11-9F79-4E826DD12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369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17923-634F-4E26-8B4C-288A8ADAB4B1}" type="datetime1">
              <a:rPr lang="en-US" smtClean="0"/>
              <a:t>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Book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839D-61E0-4A11-9F79-4E826DD12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784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EFD5A-091F-4511-AD40-84176BC4CA70}" type="datetime1">
              <a:rPr lang="en-US" smtClean="0"/>
              <a:t>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Book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839D-61E0-4A11-9F79-4E826DD12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886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A2794-6E4F-4163-879E-5E8837C395B8}" type="datetime1">
              <a:rPr lang="en-US" smtClean="0"/>
              <a:t>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Book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839D-61E0-4A11-9F79-4E826DD12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207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399B1-91BC-4D23-98F8-B607323D08E7}" type="datetime1">
              <a:rPr lang="en-US" smtClean="0"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Book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839D-61E0-4A11-9F79-4E826DD12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35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EA5B2-4CEC-495A-BC8B-46C7B35BF9E1}" type="datetime1">
              <a:rPr lang="en-US" smtClean="0"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Book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839D-61E0-4A11-9F79-4E826DD12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704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A3109-3CD0-4B12-999F-0B02527865CC}" type="datetime1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Book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839D-61E0-4A11-9F79-4E826DD12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831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1FDB0-E9F0-422A-B889-D1DFDD3A3455}" type="datetime1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Book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839D-61E0-4A11-9F79-4E826DD12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60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830E3-4BB8-4650-BDBD-511F1C9588AA}" type="datetime1">
              <a:rPr lang="en-US" smtClean="0"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Please prefer Roger S. Pressman Book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BB839D-61E0-4A11-9F79-4E826DD12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157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				</a:t>
            </a:r>
            <a:r>
              <a:rPr lang="en-US" sz="3600" b="1" dirty="0" smtClean="0"/>
              <a:t>CHAPTER 10</a:t>
            </a:r>
          </a:p>
          <a:p>
            <a:pPr marL="0" indent="0">
              <a:buNone/>
            </a:pPr>
            <a:r>
              <a:rPr lang="en-US" sz="3600" b="1" dirty="0"/>
              <a:t>	</a:t>
            </a:r>
            <a:r>
              <a:rPr lang="en-US" sz="3600" b="1" dirty="0" smtClean="0"/>
              <a:t>		Object Oriented Analysis and Design </a:t>
            </a:r>
            <a:endParaRPr lang="en-US" sz="3600" b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B6D53-F4D6-4833-BE22-F997B7EA38D1}" type="datetime1">
              <a:rPr lang="en-US" smtClean="0"/>
              <a:t>1/12/2025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839D-61E0-4A11-9F79-4E826DD12CFC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Book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708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		Management of object-orient 					software projects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719263">
              <a:buFont typeface="Wingdings" panose="05000000000000000000" pitchFamily="2" charset="2"/>
              <a:buChar char="§"/>
            </a:pPr>
            <a:r>
              <a:rPr lang="en-US" dirty="0" smtClean="0"/>
              <a:t>Greater resilience to change :</a:t>
            </a:r>
          </a:p>
          <a:p>
            <a:pPr marL="1719263">
              <a:buFont typeface="Wingdings" panose="05000000000000000000" pitchFamily="2" charset="2"/>
              <a:buChar char="§"/>
            </a:pPr>
            <a:r>
              <a:rPr lang="en-US" dirty="0" smtClean="0"/>
              <a:t>Increased degree of re-use:</a:t>
            </a:r>
          </a:p>
          <a:p>
            <a:pPr marL="1719263">
              <a:buFont typeface="Wingdings" panose="05000000000000000000" pitchFamily="2" charset="2"/>
              <a:buChar char="§"/>
            </a:pPr>
            <a:r>
              <a:rPr lang="en-US" dirty="0" smtClean="0"/>
              <a:t>Complex system is divided into different subsystem:</a:t>
            </a:r>
          </a:p>
          <a:p>
            <a:pPr marL="1719263">
              <a:buFont typeface="Wingdings" panose="05000000000000000000" pitchFamily="2" charset="2"/>
              <a:buChar char="§"/>
            </a:pPr>
            <a:r>
              <a:rPr lang="en-US" dirty="0" smtClean="0"/>
              <a:t>Improved Quality 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56558-FAB5-43B2-AD76-7514E3DBC6F8}" type="datetime1">
              <a:rPr lang="en-US" smtClean="0"/>
              <a:t>1/12/2025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839D-61E0-4A11-9F79-4E826DD12CFC}" type="slidenum">
              <a:rPr lang="en-US" smtClean="0"/>
              <a:t>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Book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087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</a:t>
            </a:r>
            <a:r>
              <a:rPr lang="en-US" b="1" dirty="0" smtClean="0"/>
              <a:t>Object-Oriented Analysis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The </a:t>
            </a:r>
            <a:r>
              <a:rPr lang="en-US" b="1" dirty="0" err="1" smtClean="0"/>
              <a:t>Booch</a:t>
            </a:r>
            <a:r>
              <a:rPr lang="en-US" b="1" dirty="0" smtClean="0"/>
              <a:t> method</a:t>
            </a:r>
            <a:r>
              <a:rPr lang="en-US" dirty="0" smtClean="0"/>
              <a:t>: </a:t>
            </a:r>
            <a:r>
              <a:rPr lang="en-US" sz="1400" dirty="0" smtClean="0"/>
              <a:t>macro &amp; micro development </a:t>
            </a:r>
          </a:p>
          <a:p>
            <a:r>
              <a:rPr lang="en-US" b="1" dirty="0" smtClean="0"/>
              <a:t>The </a:t>
            </a:r>
            <a:r>
              <a:rPr lang="en-US" b="1" dirty="0" err="1" smtClean="0"/>
              <a:t>Rumbagh</a:t>
            </a:r>
            <a:r>
              <a:rPr lang="en-US" b="1" dirty="0" smtClean="0"/>
              <a:t> method</a:t>
            </a:r>
            <a:r>
              <a:rPr lang="en-US" dirty="0" smtClean="0"/>
              <a:t>: </a:t>
            </a:r>
            <a:r>
              <a:rPr lang="en-US" sz="1400" dirty="0" smtClean="0"/>
              <a:t>object modelling technique</a:t>
            </a:r>
          </a:p>
          <a:p>
            <a:r>
              <a:rPr lang="en-US" b="1" dirty="0" smtClean="0"/>
              <a:t>The Jacobson method</a:t>
            </a:r>
            <a:r>
              <a:rPr lang="en-US" dirty="0" smtClean="0"/>
              <a:t>: </a:t>
            </a:r>
            <a:r>
              <a:rPr lang="en-US" sz="1400" dirty="0" smtClean="0"/>
              <a:t>Object Oriented Software Engineering (Use Case)</a:t>
            </a:r>
            <a:endParaRPr lang="en-US" sz="1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41AEB-E87D-447F-AEC8-238DD13419E1}" type="datetime1">
              <a:rPr lang="en-US" smtClean="0"/>
              <a:t>1/12/2025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839D-61E0-4A11-9F79-4E826DD12CFC}" type="slidenum">
              <a:rPr lang="en-US" smtClean="0"/>
              <a:t>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Book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067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			Unified Approach to OOA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Over the past decade, </a:t>
            </a:r>
            <a:r>
              <a:rPr lang="en-US" dirty="0" err="1" smtClean="0"/>
              <a:t>Booch</a:t>
            </a:r>
            <a:r>
              <a:rPr lang="en-US" dirty="0" smtClean="0"/>
              <a:t>, Jacobson &amp; </a:t>
            </a:r>
            <a:r>
              <a:rPr lang="en-US" b="1" dirty="0" err="1"/>
              <a:t>Rumbagh</a:t>
            </a:r>
            <a:r>
              <a:rPr lang="en-US" dirty="0" smtClean="0"/>
              <a:t> have collaborated to combine the best features of their individual object-oriented analysis and design into a unified method.</a:t>
            </a:r>
          </a:p>
          <a:p>
            <a:r>
              <a:rPr lang="en-US" dirty="0" smtClean="0"/>
              <a:t>UML allows a software engineers to express an analysis model using a modeling notation that is governed by a set of syntactic, semantic rules.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A015D-B963-4AE1-A6C7-3037B6CCE159}" type="datetime1">
              <a:rPr lang="en-US" smtClean="0"/>
              <a:t>1/12/2025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839D-61E0-4A11-9F79-4E826DD12CFC}" type="slidenum">
              <a:rPr lang="en-US" smtClean="0"/>
              <a:t>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Book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317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	</a:t>
            </a:r>
            <a:r>
              <a:rPr lang="en-US" b="1" dirty="0" smtClean="0"/>
              <a:t>UML View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1369" y="1825625"/>
            <a:ext cx="7479518" cy="4351338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C54FE-F8BF-4C78-9E9C-33193D6C1992}" type="datetime1">
              <a:rPr lang="en-US" smtClean="0"/>
              <a:t>1/12/2025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839D-61E0-4A11-9F79-4E826DD12CFC}" type="slidenum">
              <a:rPr lang="en-US" smtClean="0"/>
              <a:t>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Book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330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	</a:t>
            </a:r>
            <a:r>
              <a:rPr lang="en-US" b="1" dirty="0" smtClean="0"/>
              <a:t>Domain Analysis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Analysis for object-oriented systems can occur at many different </a:t>
            </a:r>
            <a:r>
              <a:rPr lang="en-US" b="1" dirty="0" smtClean="0"/>
              <a:t>levels of abstraction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Domain Analysis falls under the </a:t>
            </a:r>
            <a:r>
              <a:rPr lang="en-US" b="1" dirty="0" smtClean="0"/>
              <a:t>middle level </a:t>
            </a:r>
            <a:r>
              <a:rPr lang="en-US" dirty="0" smtClean="0"/>
              <a:t>of abstraction.</a:t>
            </a:r>
          </a:p>
          <a:p>
            <a:r>
              <a:rPr lang="en-US" dirty="0" smtClean="0"/>
              <a:t>Domain analysis is performed when an organization wants to create </a:t>
            </a:r>
            <a:r>
              <a:rPr lang="en-US" b="1" dirty="0" smtClean="0"/>
              <a:t>library of reusable classes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objective of domain analysis is to define a set of classes which can be reused in many applications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EF6A-E496-4EFC-8863-61BA9D8ECD78}" type="datetime1">
              <a:rPr lang="en-US" smtClean="0"/>
              <a:t>1/12/2025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839D-61E0-4A11-9F79-4E826DD12CFC}" type="slidenum">
              <a:rPr lang="en-US" smtClean="0"/>
              <a:t>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Book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83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</a:t>
            </a:r>
            <a:r>
              <a:rPr lang="en-US" b="1" dirty="0" smtClean="0"/>
              <a:t>Domain Analysis Process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goal of domain analysis is to find or create </a:t>
            </a:r>
            <a:r>
              <a:rPr lang="en-US" b="1" dirty="0" smtClean="0"/>
              <a:t>classes</a:t>
            </a:r>
            <a:r>
              <a:rPr lang="en-US" dirty="0" smtClean="0"/>
              <a:t> that are broadly applicable so that they may be </a:t>
            </a:r>
            <a:r>
              <a:rPr lang="en-US" b="1" dirty="0" smtClean="0"/>
              <a:t>reused.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" y="3370707"/>
            <a:ext cx="8257032" cy="1543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88336" y="5257800"/>
            <a:ext cx="619963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Figure: Input and output process for domain analysis 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F6934-8007-40A2-8F9D-FA59CCF6134B}" type="datetime1">
              <a:rPr lang="en-US" smtClean="0"/>
              <a:t>1/12/2025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839D-61E0-4A11-9F79-4E826DD12CFC}" type="slidenum">
              <a:rPr lang="en-US" smtClean="0"/>
              <a:t>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Book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806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</a:t>
            </a:r>
            <a:r>
              <a:rPr lang="en-US" b="1" dirty="0" smtClean="0"/>
              <a:t>Domain Analysis Process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domain analysis process can be characterized by a series of activities:</a:t>
            </a:r>
          </a:p>
          <a:p>
            <a:pPr marL="1600200"/>
            <a:r>
              <a:rPr lang="en-US" b="1" dirty="0" smtClean="0"/>
              <a:t>Define the domain to be investigated</a:t>
            </a:r>
          </a:p>
          <a:p>
            <a:pPr marL="1600200"/>
            <a:r>
              <a:rPr lang="en-US" b="1" dirty="0" smtClean="0"/>
              <a:t>Categorize the items extracted from the domain.</a:t>
            </a:r>
          </a:p>
          <a:p>
            <a:pPr marL="1600200"/>
            <a:r>
              <a:rPr lang="en-US" b="1" dirty="0" smtClean="0"/>
              <a:t>Collect a representative sample of applications in the domain</a:t>
            </a:r>
          </a:p>
          <a:p>
            <a:pPr marL="1600200"/>
            <a:r>
              <a:rPr lang="en-US" b="1" dirty="0" smtClean="0"/>
              <a:t>Analyze each application in the sample. </a:t>
            </a:r>
          </a:p>
          <a:p>
            <a:pPr marL="1600200"/>
            <a:r>
              <a:rPr lang="en-US" b="1" dirty="0" smtClean="0"/>
              <a:t>Develop an analysis model for the objects.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F695E-361D-4231-BC6F-C2A8F06C9C93}" type="datetime1">
              <a:rPr lang="en-US" smtClean="0"/>
              <a:t>1/12/2025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839D-61E0-4A11-9F79-4E826DD12CFC}" type="slidenum">
              <a:rPr lang="en-US" smtClean="0"/>
              <a:t>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Book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138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	GENERIC COMPONENTS OF THE OO ANALYSIS</a:t>
            </a:r>
            <a:br>
              <a:rPr lang="en-US" sz="3600" b="1" dirty="0" smtClean="0"/>
            </a:br>
            <a:r>
              <a:rPr lang="en-US" sz="3600" b="1" dirty="0" smtClean="0"/>
              <a:t>					MODEL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 smtClean="0"/>
              <a:t>Static components </a:t>
            </a:r>
            <a:r>
              <a:rPr lang="en-US" dirty="0" smtClean="0"/>
              <a:t>do not change as the application is executed. </a:t>
            </a:r>
          </a:p>
          <a:p>
            <a:r>
              <a:rPr lang="en-US" b="1" dirty="0" smtClean="0"/>
              <a:t>Dynamic components </a:t>
            </a:r>
            <a:r>
              <a:rPr lang="en-US" dirty="0" smtClean="0"/>
              <a:t>are influenced by timing and events</a:t>
            </a:r>
          </a:p>
          <a:p>
            <a:r>
              <a:rPr lang="en-US" i="1" dirty="0" smtClean="0"/>
              <a:t>Static components </a:t>
            </a:r>
            <a:r>
              <a:rPr lang="en-US" i="1" dirty="0"/>
              <a:t>are structural in </a:t>
            </a:r>
            <a:r>
              <a:rPr lang="en-US" i="1" dirty="0" smtClean="0"/>
              <a:t>nature</a:t>
            </a:r>
          </a:p>
          <a:p>
            <a:r>
              <a:rPr lang="en-US" i="1" dirty="0" smtClean="0"/>
              <a:t>Dynamic components focus on control and </a:t>
            </a:r>
            <a:r>
              <a:rPr lang="en-US" i="1" dirty="0"/>
              <a:t>a</a:t>
            </a:r>
            <a:r>
              <a:rPr lang="en-US" i="1" dirty="0" smtClean="0"/>
              <a:t>re sensitive to timing and event processing</a:t>
            </a:r>
          </a:p>
          <a:p>
            <a:pPr marL="0" indent="0">
              <a:buNone/>
            </a:pPr>
            <a:r>
              <a:rPr lang="en-US" b="1" dirty="0" smtClean="0"/>
              <a:t>			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b="1" dirty="0" smtClean="0"/>
              <a:t>		Key components of OOA model</a:t>
            </a:r>
            <a:endParaRPr lang="en-US" b="1" dirty="0"/>
          </a:p>
          <a:p>
            <a:pPr marL="1655763"/>
            <a:r>
              <a:rPr lang="en-US" b="1" dirty="0" smtClean="0"/>
              <a:t>Static view of classes</a:t>
            </a:r>
          </a:p>
          <a:p>
            <a:pPr marL="1655763"/>
            <a:r>
              <a:rPr lang="en-US" b="1" dirty="0" smtClean="0"/>
              <a:t>Static view of attributes</a:t>
            </a:r>
          </a:p>
          <a:p>
            <a:pPr marL="1655763"/>
            <a:r>
              <a:rPr lang="en-US" b="1" dirty="0" smtClean="0"/>
              <a:t>Static view of relationships</a:t>
            </a:r>
          </a:p>
          <a:p>
            <a:pPr marL="1655763"/>
            <a:r>
              <a:rPr lang="en-US" b="1" dirty="0" smtClean="0"/>
              <a:t>Static View of behaviors</a:t>
            </a:r>
          </a:p>
          <a:p>
            <a:pPr marL="1655763"/>
            <a:r>
              <a:rPr lang="en-US" b="1" dirty="0" smtClean="0"/>
              <a:t>Dynamic view of communication</a:t>
            </a:r>
          </a:p>
          <a:p>
            <a:pPr marL="1655763"/>
            <a:r>
              <a:rPr lang="en-US" b="1" dirty="0" smtClean="0"/>
              <a:t>Dynamic view of control and time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D873D-8C13-4404-85E5-784F5309966B}" type="datetime1">
              <a:rPr lang="en-US" smtClean="0"/>
              <a:t>1/12/2025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839D-61E0-4A11-9F79-4E826DD12CFC}" type="slidenum">
              <a:rPr lang="en-US" smtClean="0"/>
              <a:t>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Book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287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</a:t>
            </a:r>
            <a:r>
              <a:rPr lang="en-US" b="1" dirty="0" smtClean="0"/>
              <a:t>THE OOA PROCESS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OOA process does not begin with a concern for </a:t>
            </a:r>
            <a:r>
              <a:rPr lang="en-US" b="1" dirty="0" smtClean="0"/>
              <a:t>objects</a:t>
            </a:r>
            <a:r>
              <a:rPr lang="en-US" dirty="0" smtClean="0"/>
              <a:t>. Rather, it begins with an understanding of the manner in which the </a:t>
            </a:r>
            <a:r>
              <a:rPr lang="en-US" b="1" dirty="0" smtClean="0"/>
              <a:t>system</a:t>
            </a:r>
            <a:r>
              <a:rPr lang="en-US" dirty="0" smtClean="0"/>
              <a:t> will be used</a:t>
            </a:r>
          </a:p>
          <a:p>
            <a:r>
              <a:rPr lang="en-US" dirty="0" smtClean="0"/>
              <a:t>series of techniques that may be used to gather basic customer requirements and then define an analysis model for an object oriented system are given below</a:t>
            </a:r>
          </a:p>
          <a:p>
            <a:r>
              <a:rPr lang="en-US" b="1" dirty="0" smtClean="0"/>
              <a:t>Use Cases </a:t>
            </a:r>
          </a:p>
          <a:p>
            <a:r>
              <a:rPr lang="en-US" b="1" dirty="0" smtClean="0"/>
              <a:t>Class Responsibility Collaborator Modelling</a:t>
            </a:r>
          </a:p>
          <a:p>
            <a:r>
              <a:rPr lang="en-US" b="1" dirty="0" smtClean="0"/>
              <a:t>Defining Structures and Hierarchies</a:t>
            </a:r>
          </a:p>
          <a:p>
            <a:r>
              <a:rPr lang="en-US" b="1" dirty="0" smtClean="0"/>
              <a:t>Defining Subjects and Subsystems</a:t>
            </a: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24849-406F-48BA-95B1-00B2E950B781}" type="datetime1">
              <a:rPr lang="en-US" smtClean="0"/>
              <a:t>1/12/2025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839D-61E0-4A11-9F79-4E826DD12CFC}" type="slidenum">
              <a:rPr lang="en-US" smtClean="0"/>
              <a:t>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Book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74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	</a:t>
            </a:r>
            <a:r>
              <a:rPr lang="en-US" b="1" dirty="0" smtClean="0"/>
              <a:t>Use-case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Use-case model the system from the end-user’s point of view.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 Created during requirements elicitation,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 use-cases should achieve the following objectives:</a:t>
            </a:r>
          </a:p>
          <a:p>
            <a:pPr marL="0" indent="0">
              <a:buNone/>
            </a:pPr>
            <a:r>
              <a:rPr lang="en-US" dirty="0" smtClean="0"/>
              <a:t> • To define the functional and operational requirements of the system   that is agreed upon by the end-user and the software engineering team.</a:t>
            </a:r>
          </a:p>
          <a:p>
            <a:pPr marL="0" indent="0">
              <a:buNone/>
            </a:pPr>
            <a:r>
              <a:rPr lang="en-US" dirty="0" smtClean="0"/>
              <a:t> • To provide a clear and unambiguous description of how the end-user and the system interact with one another. </a:t>
            </a:r>
          </a:p>
          <a:p>
            <a:pPr marL="0" indent="0">
              <a:buNone/>
            </a:pPr>
            <a:r>
              <a:rPr lang="en-US" dirty="0" smtClean="0"/>
              <a:t>• To provide a basis for validation testing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6D359-B6E4-489B-AB12-E62AB73FAAA4}" type="datetime1">
              <a:rPr lang="en-US" smtClean="0"/>
              <a:t>1/12/2025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839D-61E0-4A11-9F79-4E826DD12CFC}" type="slidenum">
              <a:rPr lang="en-US" smtClean="0"/>
              <a:t>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Book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70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dirty="0" smtClean="0"/>
              <a:t>		</a:t>
            </a:r>
            <a:r>
              <a:rPr lang="en-US" b="1" dirty="0" smtClean="0"/>
              <a:t>Use-Cases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4560" y="1825625"/>
            <a:ext cx="6547104" cy="4351338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D4F64-A7F9-4557-8198-51ADCDF0BBAB}" type="datetime1">
              <a:rPr lang="en-US" smtClean="0"/>
              <a:t>1/12/2025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839D-61E0-4A11-9F79-4E826DD12CFC}" type="slidenum">
              <a:rPr lang="en-US" smtClean="0"/>
              <a:t>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Book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955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 Class-Responsibility-Collaborator Modeling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Once basic usage scenarios have been developed for the system, it is time to identify candidate classes and indicate their responsibilities and collaborations. </a:t>
            </a:r>
          </a:p>
          <a:p>
            <a:r>
              <a:rPr lang="en-US" dirty="0" smtClean="0"/>
              <a:t>Class</a:t>
            </a:r>
            <a:r>
              <a:rPr lang="en-US" dirty="0"/>
              <a:t> </a:t>
            </a:r>
            <a:r>
              <a:rPr lang="en-US" dirty="0" smtClean="0"/>
              <a:t>responsibility-collaborator (CRC) modeling  provides a simple means for identifying and organizing the classes which are relevant to system or product requirements.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689DA-20C8-4675-BB73-3021BC14A90D}" type="datetime1">
              <a:rPr lang="en-US" smtClean="0"/>
              <a:t>1/12/2025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839D-61E0-4A11-9F79-4E826DD12CFC}" type="slidenum">
              <a:rPr lang="en-US" smtClean="0"/>
              <a:t>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Book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254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Class-Responsibility-Collaborator Modeling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1992" y="2143919"/>
            <a:ext cx="6748272" cy="371475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26E91-3F59-4A87-9B9F-4D8F0FB81FB8}" type="datetime1">
              <a:rPr lang="en-US" smtClean="0"/>
              <a:t>1/12/2025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839D-61E0-4A11-9F79-4E826DD12CFC}" type="slidenum">
              <a:rPr lang="en-US" smtClean="0"/>
              <a:t>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Book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840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</a:t>
            </a:r>
            <a:r>
              <a:rPr lang="en-US" b="1" dirty="0" smtClean="0"/>
              <a:t>Defining Structure and Hierarchies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5137" y="1325912"/>
            <a:ext cx="4352925" cy="3467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77056" y="4793012"/>
            <a:ext cx="5742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Class diagram for generalization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820E3-DC07-46AE-AF29-8B203353AD5C}" type="datetime1">
              <a:rPr lang="en-US" smtClean="0"/>
              <a:t>1/12/2025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839D-61E0-4A11-9F79-4E826DD12CFC}" type="slidenum">
              <a:rPr lang="en-US" smtClean="0"/>
              <a:t>15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Book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20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		Defining Structure and Hierarchies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5587" y="2077244"/>
            <a:ext cx="6600825" cy="384810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04CE-169A-4FAF-94DB-A1C2499130DF}" type="datetime1">
              <a:rPr lang="en-US" smtClean="0"/>
              <a:t>1/12/2025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839D-61E0-4A11-9F79-4E826DD12CFC}" type="slidenum">
              <a:rPr lang="en-US" smtClean="0"/>
              <a:t>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Book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284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		Defining Subjects and Subsystems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38728" y="1761617"/>
            <a:ext cx="6166981" cy="4351338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5D9ED-B95D-49A7-927F-7BB80BC8D723}" type="datetime1">
              <a:rPr lang="en-US" smtClean="0"/>
              <a:t>1/12/2025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839D-61E0-4A11-9F79-4E826DD12CFC}" type="slidenum">
              <a:rPr lang="en-US" smtClean="0"/>
              <a:t>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Book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60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</a:t>
            </a:r>
            <a:r>
              <a:rPr lang="en-US" b="1" dirty="0" smtClean="0"/>
              <a:t>OBJECT ORIENTED DESIGN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16481"/>
            <a:ext cx="10515600" cy="4351338"/>
          </a:xfrm>
        </p:spPr>
        <p:txBody>
          <a:bodyPr/>
          <a:lstStyle/>
          <a:p>
            <a:r>
              <a:rPr lang="en-US" dirty="0" smtClean="0"/>
              <a:t>During the object oriented design there is an emphasis on defining </a:t>
            </a:r>
            <a:r>
              <a:rPr lang="en-US" b="1" dirty="0" smtClean="0"/>
              <a:t>software objects </a:t>
            </a:r>
            <a:r>
              <a:rPr lang="en-US" dirty="0" smtClean="0"/>
              <a:t>and </a:t>
            </a:r>
            <a:r>
              <a:rPr lang="en-US" b="1" dirty="0" smtClean="0"/>
              <a:t>how</a:t>
            </a:r>
            <a:r>
              <a:rPr lang="en-US" dirty="0" smtClean="0"/>
              <a:t> they collaborate to fulfill the requirements.</a:t>
            </a:r>
          </a:p>
          <a:p>
            <a:r>
              <a:rPr lang="en-US" dirty="0" smtClean="0"/>
              <a:t>Object-oriented design transform the analysis model created using </a:t>
            </a:r>
            <a:r>
              <a:rPr lang="en-US" b="1" dirty="0" smtClean="0"/>
              <a:t>object-oriented analysis </a:t>
            </a:r>
            <a:r>
              <a:rPr lang="en-US" dirty="0" smtClean="0"/>
              <a:t>into a design model that serves as a </a:t>
            </a:r>
            <a:r>
              <a:rPr lang="en-US" b="1" dirty="0" smtClean="0"/>
              <a:t>blueprint</a:t>
            </a:r>
            <a:r>
              <a:rPr lang="en-US" dirty="0" smtClean="0"/>
              <a:t> for software construction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FB370-FC6E-45A1-BFD4-B6CF7B9DB294}" type="datetime1">
              <a:rPr lang="en-US" smtClean="0"/>
              <a:t>1/12/2025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839D-61E0-4A11-9F79-4E826DD12CFC}" type="slidenum">
              <a:rPr lang="en-US" smtClean="0"/>
              <a:t>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Book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98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</a:t>
            </a:r>
            <a:r>
              <a:rPr lang="en-US" b="1" dirty="0" smtClean="0"/>
              <a:t>Layers of OO design Pyramid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81437" y="2243931"/>
            <a:ext cx="4429125" cy="351472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64FC6-A9D1-48AB-A253-26FA42C151E0}" type="datetime1">
              <a:rPr lang="en-US" smtClean="0"/>
              <a:t>1/12/2025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839D-61E0-4A11-9F79-4E826DD12CFC}" type="slidenum">
              <a:rPr lang="en-US" smtClean="0"/>
              <a:t>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Book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383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		Layers of OO design Pyramid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The subsystem layer: </a:t>
            </a:r>
            <a:r>
              <a:rPr lang="en-US" dirty="0" smtClean="0"/>
              <a:t>contains the representation of subsystems helps to achieve its customer-defined requirements</a:t>
            </a:r>
          </a:p>
          <a:p>
            <a:r>
              <a:rPr lang="en-US" b="1" dirty="0" smtClean="0"/>
              <a:t>The class and object layer </a:t>
            </a:r>
            <a:r>
              <a:rPr lang="en-US" dirty="0" smtClean="0"/>
              <a:t>contains the class hierarchies. This layer also contains representations of each object</a:t>
            </a:r>
            <a:endParaRPr lang="en-US" dirty="0"/>
          </a:p>
          <a:p>
            <a:r>
              <a:rPr lang="en-US" b="1" dirty="0" smtClean="0"/>
              <a:t>The message layer </a:t>
            </a:r>
            <a:r>
              <a:rPr lang="en-US" dirty="0" smtClean="0"/>
              <a:t>contains the design details that enable each object to communicate with its collaborators. This layer establishes the external and internal interfaces for the system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29EE-D6A9-433E-B9A4-1E1A5A779021}" type="datetime1">
              <a:rPr lang="en-US" smtClean="0"/>
              <a:t>1/12/2025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839D-61E0-4A11-9F79-4E826DD12CFC}" type="slidenum">
              <a:rPr lang="en-US" smtClean="0"/>
              <a:t>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Book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761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		Layers of OO design Pyramid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The responsibilities layer </a:t>
            </a:r>
            <a:r>
              <a:rPr lang="en-US" dirty="0" smtClean="0"/>
              <a:t>contains the data structure and algorithmic design for all attributes and operations for each object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D7-82F1-4C05-8F4C-60AFE5315904}" type="datetime1">
              <a:rPr lang="en-US" smtClean="0"/>
              <a:t>1/12/2025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839D-61E0-4A11-9F79-4E826DD12CFC}" type="slidenum">
              <a:rPr lang="en-US" smtClean="0"/>
              <a:t>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Book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063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Translating OOA model to OOD model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9513" y="1834769"/>
            <a:ext cx="8192974" cy="4351338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60BA4-0698-4BC2-92C1-D94796BA8A0C}" type="datetime1">
              <a:rPr lang="en-US" smtClean="0"/>
              <a:t>1/12/2025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839D-61E0-4A11-9F79-4E826DD12CFC}" type="slidenum">
              <a:rPr lang="en-US" smtClean="0"/>
              <a:t>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Book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614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	Translating OOA model to OOD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The subsystem design </a:t>
            </a:r>
            <a:r>
              <a:rPr lang="en-US" dirty="0" smtClean="0"/>
              <a:t>is derived by considering overall customer requirements (represented with use-cases) and the events and states that are externally observable (the object-behavior model). </a:t>
            </a:r>
          </a:p>
          <a:p>
            <a:r>
              <a:rPr lang="en-US" b="1" dirty="0" smtClean="0"/>
              <a:t>Class and object design </a:t>
            </a:r>
            <a:r>
              <a:rPr lang="en-US" dirty="0" smtClean="0"/>
              <a:t>is mapped from the description of attributes, operations, and collaborations contained in the CRC model.</a:t>
            </a:r>
          </a:p>
          <a:p>
            <a:r>
              <a:rPr lang="en-US" dirty="0" smtClean="0"/>
              <a:t> </a:t>
            </a:r>
            <a:r>
              <a:rPr lang="en-US" b="1" dirty="0" smtClean="0"/>
              <a:t>Message design </a:t>
            </a:r>
            <a:r>
              <a:rPr lang="en-US" dirty="0" smtClean="0"/>
              <a:t>is driven by the object-relationship model,</a:t>
            </a:r>
          </a:p>
          <a:p>
            <a:r>
              <a:rPr lang="en-US" dirty="0" smtClean="0"/>
              <a:t>  </a:t>
            </a:r>
            <a:r>
              <a:rPr lang="en-US" b="1" dirty="0"/>
              <a:t>R</a:t>
            </a:r>
            <a:r>
              <a:rPr lang="en-US" b="1" dirty="0" smtClean="0"/>
              <a:t>esponsibilities design </a:t>
            </a:r>
            <a:r>
              <a:rPr lang="en-US" dirty="0" smtClean="0"/>
              <a:t>is derived using the attributes, operations, and collaborations described in the CRC model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7ACC3-9E04-436D-B78E-11E4B342A9F0}" type="datetime1">
              <a:rPr lang="en-US" smtClean="0"/>
              <a:t>1/12/2025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839D-61E0-4A11-9F79-4E826DD12CFC}" type="slidenum">
              <a:rPr lang="en-US" smtClean="0"/>
              <a:t>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Book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798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</a:t>
            </a:r>
            <a:r>
              <a:rPr lang="en-US" b="1" dirty="0" smtClean="0"/>
              <a:t>DESIGN PATTERNS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Design patterns allow the designer to create the system architecture by integrating </a:t>
            </a:r>
            <a:r>
              <a:rPr lang="en-US" b="1" dirty="0" smtClean="0"/>
              <a:t>reusable</a:t>
            </a:r>
            <a:r>
              <a:rPr lang="en-US" dirty="0" smtClean="0"/>
              <a:t> components.</a:t>
            </a:r>
          </a:p>
          <a:p>
            <a:r>
              <a:rPr lang="en-US" dirty="0" smtClean="0"/>
              <a:t>There are many recurring patterns of </a:t>
            </a:r>
            <a:r>
              <a:rPr lang="en-US" b="1" dirty="0" smtClean="0"/>
              <a:t>classes </a:t>
            </a:r>
            <a:r>
              <a:rPr lang="en-US" dirty="0" smtClean="0"/>
              <a:t>and </a:t>
            </a:r>
            <a:r>
              <a:rPr lang="en-US" b="1" dirty="0" smtClean="0"/>
              <a:t>communicating objects </a:t>
            </a:r>
            <a:r>
              <a:rPr lang="en-US" dirty="0" smtClean="0"/>
              <a:t>in many object oriented systems.</a:t>
            </a:r>
          </a:p>
          <a:p>
            <a:r>
              <a:rPr lang="en-US" dirty="0" smtClean="0"/>
              <a:t>Throughout the OOD process, a software engineer should look for every opportunity to </a:t>
            </a:r>
            <a:r>
              <a:rPr lang="en-US" b="1" dirty="0" smtClean="0"/>
              <a:t>reuse existing</a:t>
            </a:r>
            <a:r>
              <a:rPr lang="en-US" dirty="0" smtClean="0"/>
              <a:t> design patterns rather than creating new ones.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921E3-302F-474D-B7DF-1CF70CA508F4}" type="datetime1">
              <a:rPr lang="en-US" smtClean="0"/>
              <a:t>1/12/2025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839D-61E0-4A11-9F79-4E826DD12CFC}" type="slidenum">
              <a:rPr lang="en-US" smtClean="0"/>
              <a:t>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Book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580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</a:t>
            </a:r>
            <a:r>
              <a:rPr lang="en-US" b="1" dirty="0" smtClean="0"/>
              <a:t>Describing a Design Pattern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All design patterns can be described by specifying the following information </a:t>
            </a:r>
          </a:p>
          <a:p>
            <a:r>
              <a:rPr lang="en-US" dirty="0" smtClean="0"/>
              <a:t> </a:t>
            </a:r>
            <a:r>
              <a:rPr lang="en-US" dirty="0"/>
              <a:t>the </a:t>
            </a:r>
            <a:r>
              <a:rPr lang="en-US" b="1" dirty="0"/>
              <a:t>name</a:t>
            </a:r>
            <a:r>
              <a:rPr lang="en-US" dirty="0"/>
              <a:t> of the </a:t>
            </a:r>
            <a:r>
              <a:rPr lang="en-US" dirty="0" smtClean="0"/>
              <a:t>pattern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• the </a:t>
            </a:r>
            <a:r>
              <a:rPr lang="en-US" b="1" dirty="0"/>
              <a:t>intent</a:t>
            </a:r>
            <a:r>
              <a:rPr lang="en-US" dirty="0"/>
              <a:t> of the pattern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• </a:t>
            </a:r>
            <a:r>
              <a:rPr lang="en-US" dirty="0"/>
              <a:t>the “</a:t>
            </a:r>
            <a:r>
              <a:rPr lang="en-US" b="1" dirty="0"/>
              <a:t>design forces</a:t>
            </a:r>
            <a:r>
              <a:rPr lang="en-US" dirty="0"/>
              <a:t>” that motivate the pattern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• </a:t>
            </a:r>
            <a:r>
              <a:rPr lang="en-US" dirty="0"/>
              <a:t>the </a:t>
            </a:r>
            <a:r>
              <a:rPr lang="en-US" b="1" dirty="0"/>
              <a:t>solution</a:t>
            </a:r>
            <a:r>
              <a:rPr lang="en-US" dirty="0"/>
              <a:t> that mitigates these forces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• </a:t>
            </a:r>
            <a:r>
              <a:rPr lang="en-US" dirty="0"/>
              <a:t>the </a:t>
            </a:r>
            <a:r>
              <a:rPr lang="en-US" b="1" dirty="0"/>
              <a:t>classes</a:t>
            </a:r>
            <a:r>
              <a:rPr lang="en-US" dirty="0"/>
              <a:t> that are required to implement the </a:t>
            </a:r>
            <a:r>
              <a:rPr lang="en-US" dirty="0" smtClean="0"/>
              <a:t>solution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• the </a:t>
            </a:r>
            <a:r>
              <a:rPr lang="en-US" b="1" dirty="0"/>
              <a:t>responsibilities</a:t>
            </a:r>
            <a:r>
              <a:rPr lang="en-US" dirty="0"/>
              <a:t> and </a:t>
            </a:r>
            <a:r>
              <a:rPr lang="en-US" b="1" dirty="0"/>
              <a:t>collaboration</a:t>
            </a:r>
            <a:r>
              <a:rPr lang="en-US" dirty="0"/>
              <a:t> among solution classes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• </a:t>
            </a:r>
            <a:r>
              <a:rPr lang="en-US" b="1" dirty="0"/>
              <a:t>guidance</a:t>
            </a:r>
            <a:r>
              <a:rPr lang="en-US" dirty="0"/>
              <a:t> that leads to effective implementation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• </a:t>
            </a:r>
            <a:r>
              <a:rPr lang="en-US" b="1" dirty="0"/>
              <a:t>example</a:t>
            </a:r>
            <a:r>
              <a:rPr lang="en-US" dirty="0"/>
              <a:t> source code or source code </a:t>
            </a:r>
            <a:r>
              <a:rPr lang="en-US" dirty="0" smtClean="0"/>
              <a:t>templates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• </a:t>
            </a:r>
            <a:r>
              <a:rPr lang="en-US" b="1" dirty="0"/>
              <a:t>cross-references</a:t>
            </a:r>
            <a:r>
              <a:rPr lang="en-US" dirty="0"/>
              <a:t> to related design pattern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C3923-3BBD-4F62-9409-BB17BC9261C5}" type="datetime1">
              <a:rPr lang="en-US" smtClean="0"/>
              <a:t>1/12/2025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839D-61E0-4A11-9F79-4E826DD12CFC}" type="slidenum">
              <a:rPr lang="en-US" smtClean="0"/>
              <a:t>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Book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754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</a:t>
            </a:r>
            <a:r>
              <a:rPr lang="en-US" b="1" dirty="0" smtClean="0"/>
              <a:t>Using </a:t>
            </a:r>
            <a:r>
              <a:rPr lang="en-US" b="1" dirty="0"/>
              <a:t>Patterns in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an object-oriented system, design </a:t>
            </a:r>
            <a:r>
              <a:rPr lang="en-US" dirty="0" smtClean="0"/>
              <a:t>patterns </a:t>
            </a:r>
            <a:r>
              <a:rPr lang="en-US" dirty="0"/>
              <a:t>can be used by applying two </a:t>
            </a:r>
            <a:r>
              <a:rPr lang="en-US" dirty="0" smtClean="0"/>
              <a:t>different </a:t>
            </a:r>
            <a:r>
              <a:rPr lang="en-US" dirty="0"/>
              <a:t>mechanisms</a:t>
            </a:r>
            <a:r>
              <a:rPr lang="en-US" b="1" dirty="0"/>
              <a:t>: </a:t>
            </a:r>
            <a:endParaRPr lang="en-US" b="1" dirty="0" smtClean="0"/>
          </a:p>
          <a:p>
            <a:pPr marL="514350" indent="-514350">
              <a:buAutoNum type="alphaLcPeriod"/>
            </a:pPr>
            <a:r>
              <a:rPr lang="en-US" b="1" dirty="0" smtClean="0"/>
              <a:t>Inheritance </a:t>
            </a:r>
          </a:p>
          <a:p>
            <a:pPr marL="514350" indent="-514350">
              <a:buAutoNum type="alphaLcPeriod"/>
            </a:pPr>
            <a:r>
              <a:rPr lang="en-US" b="1" dirty="0" smtClean="0"/>
              <a:t> composition 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b="1" dirty="0" smtClean="0"/>
              <a:t>					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b="1" dirty="0" smtClean="0"/>
              <a:t>					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07F5A-504F-4234-A232-395B5C2A8D95}" type="datetime1">
              <a:rPr lang="en-US" smtClean="0"/>
              <a:t>1/12/2025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839D-61E0-4A11-9F79-4E826DD12CFC}" type="slidenum">
              <a:rPr lang="en-US" smtClean="0"/>
              <a:t>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Book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171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			Using </a:t>
            </a:r>
            <a:r>
              <a:rPr lang="en-US" b="1" dirty="0"/>
              <a:t>Patterns in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828800" lvl="4" indent="0">
              <a:buNone/>
            </a:pPr>
            <a:r>
              <a:rPr lang="en-US" dirty="0" smtClean="0"/>
              <a:t>		</a:t>
            </a:r>
          </a:p>
          <a:p>
            <a:pPr marL="1828800" lvl="4" indent="0">
              <a:buNone/>
            </a:pPr>
            <a:r>
              <a:rPr lang="en-US" b="1" dirty="0"/>
              <a:t>	</a:t>
            </a:r>
            <a:r>
              <a:rPr lang="en-US" b="1" dirty="0" smtClean="0"/>
              <a:t>	Composition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Composition </a:t>
            </a:r>
            <a:r>
              <a:rPr lang="en-US" dirty="0"/>
              <a:t>is a concept that leads to </a:t>
            </a:r>
            <a:r>
              <a:rPr lang="en-US" b="1" dirty="0"/>
              <a:t>aggregate objects. </a:t>
            </a:r>
            <a:endParaRPr lang="en-US" b="1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That </a:t>
            </a:r>
            <a:r>
              <a:rPr lang="en-US" dirty="0"/>
              <a:t>is, a problem may require objects that have </a:t>
            </a:r>
            <a:r>
              <a:rPr lang="en-US" b="1" dirty="0"/>
              <a:t>complex functionality </a:t>
            </a:r>
            <a:r>
              <a:rPr lang="en-US" b="1" dirty="0" smtClean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5702E-BA43-4D3A-9270-84DC0E54D431}" type="datetime1">
              <a:rPr lang="en-US" smtClean="0"/>
              <a:t>1/12/2025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839D-61E0-4A11-9F79-4E826DD12CFC}" type="slidenum">
              <a:rPr lang="en-US" smtClean="0"/>
              <a:t>27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Book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436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			Using </a:t>
            </a:r>
            <a:r>
              <a:rPr lang="en-US" b="1" dirty="0"/>
              <a:t>Patterns in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					</a:t>
            </a:r>
            <a:r>
              <a:rPr lang="en-US" b="1" dirty="0" smtClean="0"/>
              <a:t>Inheritance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Using </a:t>
            </a:r>
            <a:r>
              <a:rPr lang="en-US" b="1" dirty="0"/>
              <a:t>inheritance</a:t>
            </a:r>
            <a:r>
              <a:rPr lang="en-US" dirty="0"/>
              <a:t>, an existing design pattern becomes a template for a new </a:t>
            </a:r>
            <a:r>
              <a:rPr lang="en-US" b="1" dirty="0"/>
              <a:t>subclass</a:t>
            </a:r>
            <a:r>
              <a:rPr lang="en-US" dirty="0"/>
              <a:t>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b="1" dirty="0"/>
              <a:t>attributes and operations </a:t>
            </a:r>
            <a:r>
              <a:rPr lang="en-US" dirty="0"/>
              <a:t>that exist in the pattern become part of the </a:t>
            </a:r>
            <a:r>
              <a:rPr lang="en-US" b="1" dirty="0"/>
              <a:t>subclass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D4521-71C1-4787-B757-1B31C4E223C6}" type="datetime1">
              <a:rPr lang="en-US" smtClean="0"/>
              <a:t>1/12/2025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B839D-61E0-4A11-9F79-4E826DD12CFC}" type="slidenum">
              <a:rPr lang="en-US" smtClean="0"/>
              <a:t>28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S. Pressman Book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164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1554</TotalTime>
  <Words>1103</Words>
  <Application>Microsoft Office PowerPoint</Application>
  <PresentationFormat>Custom</PresentationFormat>
  <Paragraphs>200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PowerPoint Presentation</vt:lpstr>
      <vt:lpstr>  Management of object-orient      software projects </vt:lpstr>
      <vt:lpstr>   Object-Oriented Analysis </vt:lpstr>
      <vt:lpstr>   Unified Approach to OOA</vt:lpstr>
      <vt:lpstr>    UML View </vt:lpstr>
      <vt:lpstr>    Domain Analysis </vt:lpstr>
      <vt:lpstr>  Domain Analysis Process</vt:lpstr>
      <vt:lpstr>  Domain Analysis Process</vt:lpstr>
      <vt:lpstr> GENERIC COMPONENTS OF THE OO ANALYSIS      MODEL</vt:lpstr>
      <vt:lpstr>   THE OOA PROCESS</vt:lpstr>
      <vt:lpstr>    Use-case</vt:lpstr>
      <vt:lpstr>   Use-Cases</vt:lpstr>
      <vt:lpstr> Class-Responsibility-Collaborator Modeling</vt:lpstr>
      <vt:lpstr>Class-Responsibility-Collaborator Modeling</vt:lpstr>
      <vt:lpstr> Defining Structure and Hierarchies</vt:lpstr>
      <vt:lpstr>  Defining Structure and Hierarchies</vt:lpstr>
      <vt:lpstr>  Defining Subjects and Subsystems</vt:lpstr>
      <vt:lpstr>  OBJECT ORIENTED DESIGN</vt:lpstr>
      <vt:lpstr>  Layers of OO design Pyramid</vt:lpstr>
      <vt:lpstr>  Layers of OO design Pyramid</vt:lpstr>
      <vt:lpstr>  Layers of OO design Pyramid</vt:lpstr>
      <vt:lpstr>Translating OOA model to OOD model</vt:lpstr>
      <vt:lpstr> Translating OOA model to OOD model</vt:lpstr>
      <vt:lpstr>   DESIGN PATTERNS </vt:lpstr>
      <vt:lpstr>  Describing a Design Pattern </vt:lpstr>
      <vt:lpstr>   Using Patterns in Design</vt:lpstr>
      <vt:lpstr>   Using Patterns in Design</vt:lpstr>
      <vt:lpstr>   Using Patterns in Design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Administrator</cp:lastModifiedBy>
  <cp:revision>56</cp:revision>
  <dcterms:created xsi:type="dcterms:W3CDTF">2021-04-25T14:46:15Z</dcterms:created>
  <dcterms:modified xsi:type="dcterms:W3CDTF">2025-01-12T02:38:53Z</dcterms:modified>
</cp:coreProperties>
</file>