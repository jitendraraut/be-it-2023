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60" r:id="rId3"/>
    <p:sldId id="261" r:id="rId4"/>
    <p:sldId id="262" r:id="rId5"/>
    <p:sldId id="257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B0B99-4659-466E-8B88-2D8A64C18BEF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BA832-6369-44CE-894B-92B11036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30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1A07C-0F75-4AAB-970E-3F58B86C0E37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0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C7D-1BE6-4BEE-934C-95767B000AB8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6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688-C939-409C-89BE-CC6FC2AFC9A5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9C0ED-DA78-47AF-8D00-03FFC9B1B278}" type="datetime1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6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9F19-8A4A-44F2-A9D0-2C8A37835CFE}" type="datetime1">
              <a:rPr lang="en-US" smtClean="0"/>
              <a:t>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39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C209B-7580-4129-B7E2-D51223D5109C}" type="datetime1">
              <a:rPr lang="en-US" smtClean="0"/>
              <a:t>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35E7-F68F-4B64-BAB6-74ABAE98EC5A}" type="datetime1">
              <a:rPr lang="en-US" smtClean="0"/>
              <a:t>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2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A6AF-516B-4920-9370-9B71A16BD37F}" type="datetime1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2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E2EE-2491-4454-8389-9CA35839BB90}" type="datetime1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2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2E73-15F1-4751-8C08-D05BF7EA56F7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3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9B574-B452-420F-95E2-B2DF6A5E4923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0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9C3E3-7B2D-4B45-9E58-9CA81353FC13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439A2-0B62-48F6-ACDF-D020F37A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8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	</a:t>
            </a:r>
            <a:r>
              <a:rPr lang="en-US" b="1" dirty="0" smtClean="0"/>
              <a:t>CHAPTER 9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b="1" dirty="0" smtClean="0"/>
              <a:t>OBJECT-ORIENTED CONCEPTS AND PRINCIPLES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197D6-E777-4D1F-9442-B2B37BCEDFBF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1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b="1" dirty="0" smtClean="0"/>
              <a:t>		The OO Process model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050" y="1872075"/>
            <a:ext cx="8343900" cy="427672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CEDF-0A8A-4D62-9F6D-2FFA088D227C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5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	OO Process model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OO process moves through an </a:t>
            </a:r>
            <a:r>
              <a:rPr lang="en-US" b="1" dirty="0" smtClean="0"/>
              <a:t>evolutionary spiral</a:t>
            </a:r>
            <a:r>
              <a:rPr lang="en-US" dirty="0" smtClean="0"/>
              <a:t> that starts with customer communication. </a:t>
            </a:r>
          </a:p>
          <a:p>
            <a:r>
              <a:rPr lang="en-US" dirty="0" smtClean="0"/>
              <a:t>.Planning and risk analysis establish a foundation for the OO project plan</a:t>
            </a:r>
          </a:p>
          <a:p>
            <a:r>
              <a:rPr lang="en-US" dirty="0" smtClean="0"/>
              <a:t>The technical work associated with OO software engineering follows the </a:t>
            </a:r>
            <a:r>
              <a:rPr lang="en-US" b="1" dirty="0" smtClean="0"/>
              <a:t>iterative path </a:t>
            </a:r>
            <a:r>
              <a:rPr lang="en-US" dirty="0" smtClean="0"/>
              <a:t>shown in the shaded box.</a:t>
            </a:r>
          </a:p>
          <a:p>
            <a:r>
              <a:rPr lang="en-US" dirty="0" smtClean="0"/>
              <a:t> OO software engineering emphasizes reuse.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8EE7C-2E40-4671-AF05-6677E3772EA9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2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OO Process model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Therefore, classes are “looked up” in a library (of existing OO classes) before they are built. </a:t>
            </a:r>
          </a:p>
          <a:p>
            <a:r>
              <a:rPr lang="en-US" dirty="0" smtClean="0"/>
              <a:t>When a class cannot be found in the library, the software engineer applies object-oriented analysis (OOA), object-oriented design (OOD), object-oriented programming (OOP), and object-oriented testing (OOT) to create the class and the objects derived from the class. </a:t>
            </a:r>
          </a:p>
          <a:p>
            <a:r>
              <a:rPr lang="en-US" dirty="0" smtClean="0"/>
              <a:t>The new class is then put into the library so that it may be reused in the future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2B6A8-18AD-4B22-9D2A-B201D4CFF671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9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b="1" dirty="0" smtClean="0"/>
              <a:t>	Definition of Object and Class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Class</a:t>
            </a:r>
            <a:r>
              <a:rPr lang="en-US" dirty="0" smtClean="0"/>
              <a:t> : A class is a generalized description that describes a collection of a similar objects.</a:t>
            </a:r>
          </a:p>
          <a:p>
            <a:r>
              <a:rPr lang="en-US" b="1" dirty="0" smtClean="0"/>
              <a:t>Object</a:t>
            </a:r>
            <a:r>
              <a:rPr lang="en-US" dirty="0" smtClean="0"/>
              <a:t> : Instance of Class is called object </a:t>
            </a:r>
          </a:p>
          <a:p>
            <a:endParaRPr lang="en-US" dirty="0"/>
          </a:p>
          <a:p>
            <a:r>
              <a:rPr lang="en-US" dirty="0" smtClean="0"/>
              <a:t>One widely used approach to problem solving takes an </a:t>
            </a:r>
            <a:r>
              <a:rPr lang="en-US" b="1" dirty="0" smtClean="0"/>
              <a:t>object-oriented viewpoint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EE02-D64E-4DA2-8704-510A51B6DEAC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8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The Object Oriented Paradigm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many years, the term object oriented (OO) was used to denote a </a:t>
            </a:r>
            <a:r>
              <a:rPr lang="en-US" b="1" dirty="0" smtClean="0"/>
              <a:t>software development approach </a:t>
            </a:r>
            <a:r>
              <a:rPr lang="en-US" dirty="0" smtClean="0"/>
              <a:t>that used one of a number of object-oriented programming languages Java, C++, </a:t>
            </a:r>
          </a:p>
          <a:p>
            <a:r>
              <a:rPr lang="en-US" dirty="0" smtClean="0"/>
              <a:t>Today, the OO paradigm encompasses a complete view of software engineering.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442C-8F17-4F18-A908-FBC6ED4A9E82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5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Inheritance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5368" y="1825625"/>
            <a:ext cx="4921263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B827-7CC4-4E1F-9595-C827541D0E24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8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Inheritance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5177" y="1825625"/>
            <a:ext cx="3721645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5AD89-5C1D-42D4-A98E-1D123236DDFF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50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Class and Object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150" y="2624931"/>
            <a:ext cx="4457700" cy="2752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016" y="1965960"/>
            <a:ext cx="86410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		An Alternative way to represent class and object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A8A93-DBEF-4345-B9E7-BBAB1D65C6F9}" type="datetime1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92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Message Passing Between Class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3936" y="1920081"/>
            <a:ext cx="9281159" cy="416242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7BFE2-5AC7-420A-A27C-222EF8DD44C9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04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IDENTIFYING THE ELEMENTS OF AN OBJECT 						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b="1" dirty="0" smtClean="0"/>
              <a:t>Identifying Classes and Objects</a:t>
            </a:r>
          </a:p>
          <a:p>
            <a:pPr marL="0" indent="0">
              <a:buNone/>
            </a:pPr>
            <a:r>
              <a:rPr lang="en-US" dirty="0" smtClean="0"/>
              <a:t>				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				Objects can be:-</a:t>
            </a:r>
          </a:p>
          <a:p>
            <a:pPr marL="1143000" indent="0"/>
            <a:r>
              <a:rPr lang="en-US" b="1" dirty="0" smtClean="0"/>
              <a:t>External Entities </a:t>
            </a:r>
          </a:p>
          <a:p>
            <a:pPr marL="0" indent="1087438">
              <a:buNone/>
            </a:pPr>
            <a:r>
              <a:rPr lang="en-US" b="1" dirty="0" smtClean="0"/>
              <a:t>• Things </a:t>
            </a:r>
          </a:p>
          <a:p>
            <a:pPr marL="0" indent="1087438">
              <a:buNone/>
            </a:pPr>
            <a:r>
              <a:rPr lang="en-US" b="1" dirty="0" smtClean="0"/>
              <a:t> • Occurrences or events</a:t>
            </a:r>
          </a:p>
          <a:p>
            <a:pPr marL="0" indent="1087438">
              <a:buNone/>
            </a:pPr>
            <a:r>
              <a:rPr lang="en-US" b="1" dirty="0" smtClean="0"/>
              <a:t>• Roles</a:t>
            </a:r>
          </a:p>
          <a:p>
            <a:pPr marL="0" indent="1087438">
              <a:buNone/>
            </a:pPr>
            <a:r>
              <a:rPr lang="en-US" b="1" dirty="0" smtClean="0"/>
              <a:t> • Organizational units</a:t>
            </a:r>
          </a:p>
          <a:p>
            <a:pPr marL="0" indent="1087438">
              <a:buNone/>
            </a:pPr>
            <a:r>
              <a:rPr lang="en-US" b="1" dirty="0" smtClean="0"/>
              <a:t> • Places </a:t>
            </a:r>
          </a:p>
          <a:p>
            <a:pPr marL="0" indent="1087438">
              <a:buNone/>
            </a:pPr>
            <a:r>
              <a:rPr lang="en-US" b="1" dirty="0" smtClean="0"/>
              <a:t>• Structure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C304-7988-452A-8721-479A5F6BE396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6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IDENTIFYING THE ELEMENTS OF AN OBJECT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</a:t>
            </a:r>
            <a:r>
              <a:rPr lang="en-US" b="1" dirty="0" smtClean="0"/>
              <a:t>2. Specifying Attributes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Attributes are chosen by examining the problem statement, looking for things that fully define an object and make it unique.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C767-9789-4688-A479-733A61CBF0ED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81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r>
              <a:rPr lang="en-US" b="1" dirty="0" smtClean="0"/>
              <a:t>IDENTIFYING THE ELEMENTS OF AN OBJECT 						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3. </a:t>
            </a:r>
            <a:r>
              <a:rPr lang="en-US" b="1" dirty="0" smtClean="0"/>
              <a:t>Defining the operation 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Although many different types of operations exist, they can generally be divided into three broad categories: </a:t>
            </a:r>
          </a:p>
          <a:p>
            <a:pPr marL="514350" indent="-514350">
              <a:buAutoNum type="arabicParenBoth"/>
            </a:pPr>
            <a:r>
              <a:rPr lang="en-US" dirty="0" smtClean="0"/>
              <a:t>operations that manipulate data in some way (e.g., adding, deleting, reformatting, selecting),</a:t>
            </a:r>
          </a:p>
          <a:p>
            <a:pPr marL="514350" indent="-514350">
              <a:buAutoNum type="arabicParenBoth"/>
            </a:pPr>
            <a:r>
              <a:rPr lang="en-US" dirty="0" smtClean="0"/>
              <a:t>  operations that perform a computation, </a:t>
            </a:r>
          </a:p>
          <a:p>
            <a:pPr marL="514350" indent="-514350">
              <a:buAutoNum type="arabicParenBoth"/>
            </a:pPr>
            <a:r>
              <a:rPr lang="en-US" dirty="0" smtClean="0"/>
              <a:t> operations that monitor an object for the occurrence of a controlling event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191D-840A-4383-B64E-205A51B73B0C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43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IDENTIFYING THE ELEMENTS OF AN OBJECT 						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</a:t>
            </a:r>
            <a:r>
              <a:rPr lang="en-US" b="1" dirty="0" smtClean="0"/>
              <a:t>3. Finalizing the Object Definition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The definition of operations is the last step in completing the specification of an object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BE96-119F-4409-96DD-F0830F180F10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76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b="1" dirty="0" smtClean="0"/>
              <a:t>OO Project Metrics and Estimation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Conventional software project estimation -- (LOC) and  function points (FP)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OOP Project Metrics is based on:</a:t>
            </a:r>
          </a:p>
          <a:p>
            <a:pPr marL="0" indent="0">
              <a:buNone/>
            </a:pPr>
            <a:r>
              <a:rPr lang="en-US" b="1" dirty="0" smtClean="0"/>
              <a:t>1.Number of scenario scripts </a:t>
            </a:r>
            <a:r>
              <a:rPr lang="en-US" dirty="0" smtClean="0"/>
              <a:t>(initiator, action and participator)</a:t>
            </a:r>
          </a:p>
          <a:p>
            <a:pPr marL="0" indent="0">
              <a:buNone/>
            </a:pPr>
            <a:r>
              <a:rPr lang="en-US" b="1" dirty="0" smtClean="0"/>
              <a:t>2.Number of key classes </a:t>
            </a:r>
          </a:p>
          <a:p>
            <a:pPr marL="0" indent="0">
              <a:buNone/>
            </a:pPr>
            <a:r>
              <a:rPr lang="en-US" b="1" dirty="0" smtClean="0"/>
              <a:t>3.Number of support classes </a:t>
            </a:r>
          </a:p>
          <a:p>
            <a:pPr marL="0" indent="0">
              <a:buNone/>
            </a:pPr>
            <a:r>
              <a:rPr lang="en-US" b="1" dirty="0" smtClean="0"/>
              <a:t>4.Average number of support classes per key class</a:t>
            </a:r>
          </a:p>
          <a:p>
            <a:pPr marL="0" indent="0">
              <a:buNone/>
            </a:pPr>
            <a:r>
              <a:rPr lang="en-US" b="1" dirty="0" smtClean="0"/>
              <a:t>5.Number of subsystems. 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2800-D53E-4992-B714-46ED8D6F9479}" type="datetime1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39A2-0B62-48F6-ACDF-D020F37A84B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74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416</Words>
  <Application>Microsoft Office PowerPoint</Application>
  <PresentationFormat>Custom</PresentationFormat>
  <Paragraphs>102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     CHAPTER 9</vt:lpstr>
      <vt:lpstr>   The OO Process model</vt:lpstr>
      <vt:lpstr>    OO Process model </vt:lpstr>
      <vt:lpstr>   OO Process model </vt:lpstr>
      <vt:lpstr>  Definition of Object and Class</vt:lpstr>
      <vt:lpstr>  The Object Oriented Paradigm </vt:lpstr>
      <vt:lpstr>   Inheritance </vt:lpstr>
      <vt:lpstr>   Inheritance </vt:lpstr>
      <vt:lpstr>    Class and Object </vt:lpstr>
      <vt:lpstr>  Message Passing Between Class </vt:lpstr>
      <vt:lpstr>IDENTIFYING THE ELEMENTS OF AN OBJECT       MODEL</vt:lpstr>
      <vt:lpstr>IDENTIFYING THE ELEMENTS OF AN OBJECT MODE</vt:lpstr>
      <vt:lpstr>IDENTIFYING THE ELEMENTS OF AN OBJECT       MODE</vt:lpstr>
      <vt:lpstr>IDENTIFYING THE ELEMENTS OF AN OBJECT       MODE</vt:lpstr>
      <vt:lpstr> OO Project Metrics and Estimation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Nirdosh</cp:lastModifiedBy>
  <cp:revision>18</cp:revision>
  <dcterms:created xsi:type="dcterms:W3CDTF">2021-04-24T16:52:51Z</dcterms:created>
  <dcterms:modified xsi:type="dcterms:W3CDTF">2023-01-30T05:12:44Z</dcterms:modified>
</cp:coreProperties>
</file>