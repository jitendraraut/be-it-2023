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89A3B-4674-4286-8BA3-74D2FF5EAFA0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72738-9E11-44C4-ABED-9F58606BF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196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89A3B-4674-4286-8BA3-74D2FF5EAFA0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72738-9E11-44C4-ABED-9F58606BF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671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89A3B-4674-4286-8BA3-74D2FF5EAFA0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72738-9E11-44C4-ABED-9F58606BF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210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89A3B-4674-4286-8BA3-74D2FF5EAFA0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72738-9E11-44C4-ABED-9F58606BF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35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89A3B-4674-4286-8BA3-74D2FF5EAFA0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72738-9E11-44C4-ABED-9F58606BF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206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89A3B-4674-4286-8BA3-74D2FF5EAFA0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72738-9E11-44C4-ABED-9F58606BF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234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89A3B-4674-4286-8BA3-74D2FF5EAFA0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72738-9E11-44C4-ABED-9F58606BF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696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89A3B-4674-4286-8BA3-74D2FF5EAFA0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72738-9E11-44C4-ABED-9F58606BF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736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89A3B-4674-4286-8BA3-74D2FF5EAFA0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72738-9E11-44C4-ABED-9F58606BF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47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89A3B-4674-4286-8BA3-74D2FF5EAFA0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72738-9E11-44C4-ABED-9F58606BF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025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89A3B-4674-4286-8BA3-74D2FF5EAFA0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72738-9E11-44C4-ABED-9F58606BF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328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889A3B-4674-4286-8BA3-74D2FF5EAFA0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B72738-9E11-44C4-ABED-9F58606BF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81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Capability Maturity Model(</a:t>
            </a:r>
            <a:r>
              <a:rPr lang="en-US" dirty="0" err="1"/>
              <a:t>CMM</a:t>
            </a:r>
            <a:r>
              <a:rPr lang="en-US" dirty="0"/>
              <a:t>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intent of the maturity model is to provide an overall indication of the </a:t>
            </a:r>
            <a:r>
              <a:rPr lang="en-US" b="1" dirty="0"/>
              <a:t>“process maturity” exhibited by a software organization</a:t>
            </a:r>
            <a:r>
              <a:rPr lang="en-US" dirty="0"/>
              <a:t>.</a:t>
            </a:r>
          </a:p>
          <a:p>
            <a:r>
              <a:rPr lang="en-US" dirty="0"/>
              <a:t> That is, an indication of the </a:t>
            </a:r>
            <a:r>
              <a:rPr lang="en-US" b="1" dirty="0"/>
              <a:t>quality of the software process</a:t>
            </a:r>
            <a:r>
              <a:rPr lang="en-US" dirty="0"/>
              <a:t>, </a:t>
            </a:r>
            <a:r>
              <a:rPr lang="en-US" b="1" dirty="0"/>
              <a:t>the degree to which practitioner’s understand and apply the process</a:t>
            </a:r>
            <a:r>
              <a:rPr lang="en-US" dirty="0"/>
              <a:t>, and </a:t>
            </a:r>
            <a:r>
              <a:rPr lang="en-US" b="1" dirty="0"/>
              <a:t>the general state of software engineering practice</a:t>
            </a:r>
          </a:p>
        </p:txBody>
      </p:sp>
    </p:spTree>
    <p:extLst>
      <p:ext uri="{BB962C8B-B14F-4D97-AF65-F5344CB8AC3E}">
        <p14:creationId xmlns:p14="http://schemas.microsoft.com/office/powerpoint/2010/main" val="1417686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Capability Maturity Model  suggests five levels of maturity </a:t>
            </a:r>
          </a:p>
          <a:p>
            <a:pPr marL="0" indent="0">
              <a:buNone/>
            </a:pPr>
            <a:r>
              <a:rPr lang="en-US" b="1" dirty="0"/>
              <a:t>    Level 1, Initial</a:t>
            </a:r>
          </a:p>
          <a:p>
            <a:endParaRPr lang="en-US" dirty="0"/>
          </a:p>
          <a:p>
            <a:r>
              <a:rPr lang="en-US" b="1" dirty="0"/>
              <a:t>Processes are disorganized, ad hoc and even chaotic.</a:t>
            </a:r>
          </a:p>
          <a:p>
            <a:r>
              <a:rPr lang="en-US" dirty="0"/>
              <a:t> Success likely depends on individual efforts and is not considered to be repeatable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71386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    Level 2, Repeatable</a:t>
            </a:r>
            <a:endParaRPr lang="en-US" dirty="0"/>
          </a:p>
          <a:p>
            <a:r>
              <a:rPr lang="en-US" dirty="0"/>
              <a:t> Requisite processes are established, defined and documented. </a:t>
            </a:r>
          </a:p>
          <a:p>
            <a:r>
              <a:rPr lang="en-US" dirty="0"/>
              <a:t>Basic project management processes are established to track cost, schedule, and functionality. </a:t>
            </a:r>
          </a:p>
          <a:p>
            <a:r>
              <a:rPr lang="en-US" dirty="0"/>
              <a:t> requisite processes are established, defined and documented Planning and managing new products is based on experience with similar projects</a:t>
            </a:r>
          </a:p>
        </p:txBody>
      </p:sp>
    </p:spTree>
    <p:extLst>
      <p:ext uri="{BB962C8B-B14F-4D97-AF65-F5344CB8AC3E}">
        <p14:creationId xmlns:p14="http://schemas.microsoft.com/office/powerpoint/2010/main" val="2365160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Level 3, Defined</a:t>
            </a:r>
          </a:p>
          <a:p>
            <a:r>
              <a:rPr lang="en-US" dirty="0"/>
              <a:t>An organization develops its own standard software development process.</a:t>
            </a:r>
          </a:p>
          <a:p>
            <a:r>
              <a:rPr lang="en-US" dirty="0"/>
              <a:t> These defined processes enable greater attention to documentation, standardization and integration.</a:t>
            </a:r>
          </a:p>
          <a:p>
            <a:r>
              <a:rPr lang="en-US" dirty="0"/>
              <a:t>All projects use an approved, tailored version of the organization’s standard software process for developing software.</a:t>
            </a:r>
          </a:p>
        </p:txBody>
      </p:sp>
    </p:spTree>
    <p:extLst>
      <p:ext uri="{BB962C8B-B14F-4D97-AF65-F5344CB8AC3E}">
        <p14:creationId xmlns:p14="http://schemas.microsoft.com/office/powerpoint/2010/main" val="398399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Level 4, Managed</a:t>
            </a:r>
          </a:p>
          <a:p>
            <a:r>
              <a:rPr lang="en-US" dirty="0"/>
              <a:t>At the managed level, an organization monitors and controls its own processes through data collection and analysis.</a:t>
            </a:r>
          </a:p>
          <a:p>
            <a:r>
              <a:rPr lang="en-US" dirty="0"/>
              <a:t>Meaningful variations in process performance can be distinguished from random noise, and trends in process and product qualities can be predicted.</a:t>
            </a:r>
          </a:p>
        </p:txBody>
      </p:sp>
    </p:spTree>
    <p:extLst>
      <p:ext uri="{BB962C8B-B14F-4D97-AF65-F5344CB8AC3E}">
        <p14:creationId xmlns:p14="http://schemas.microsoft.com/office/powerpoint/2010/main" val="391440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Level 5</a:t>
            </a:r>
            <a:r>
              <a:rPr lang="en-US" b="1"/>
              <a:t>, Optimized</a:t>
            </a:r>
            <a:endParaRPr lang="en-US" dirty="0"/>
          </a:p>
          <a:p>
            <a:r>
              <a:rPr lang="en-US" dirty="0"/>
              <a:t> Processes are constantly improved through  processes are constantly improved through monitoring feedback from processes and introducing innovative processes and functionality.</a:t>
            </a:r>
          </a:p>
          <a:p>
            <a:r>
              <a:rPr lang="en-US" dirty="0"/>
              <a:t>The organization has quantitative feedback systems in place to identify process weaknesses and strengthen them pro-actively.</a:t>
            </a:r>
          </a:p>
          <a:p>
            <a:r>
              <a:rPr lang="en-US" dirty="0"/>
              <a:t> Project teams analyze defects to determine their causes; software processes are evaluated and updated to prevent known types of defects from recurring.</a:t>
            </a:r>
          </a:p>
        </p:txBody>
      </p:sp>
    </p:spTree>
    <p:extLst>
      <p:ext uri="{BB962C8B-B14F-4D97-AF65-F5344CB8AC3E}">
        <p14:creationId xmlns:p14="http://schemas.microsoft.com/office/powerpoint/2010/main" val="3885104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95401"/>
            <a:ext cx="82296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471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312</Words>
  <Application>Microsoft Office PowerPoint</Application>
  <PresentationFormat>On-screen Show (4:3)</PresentationFormat>
  <Paragraphs>23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Capability Maturity Model(CMM)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Capability Maturity Model(CMMM)</dc:title>
  <dc:creator>Nirdosh</dc:creator>
  <cp:lastModifiedBy>Jitendra Raut</cp:lastModifiedBy>
  <cp:revision>9</cp:revision>
  <dcterms:created xsi:type="dcterms:W3CDTF">2023-12-19T15:17:30Z</dcterms:created>
  <dcterms:modified xsi:type="dcterms:W3CDTF">2024-12-27T10:39:14Z</dcterms:modified>
</cp:coreProperties>
</file>