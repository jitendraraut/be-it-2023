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7" r:id="rId2"/>
    <p:sldId id="258" r:id="rId3"/>
    <p:sldId id="259" r:id="rId4"/>
    <p:sldId id="260" r:id="rId5"/>
    <p:sldId id="261" r:id="rId6"/>
    <p:sldId id="264" r:id="rId7"/>
    <p:sldId id="265" r:id="rId8"/>
    <p:sldId id="292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14" y="2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CC299D-96CC-43E7-9570-328B9BBE6732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28D162-F67E-4C83-8F98-47252D61E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96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D2278-4A00-4DA8-88A3-222A4650D9C9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20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189C-2DEA-4F78-BE20-400397E978AE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177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AAA07-90B8-4AF8-8B02-A29B14FD00FA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812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7A905-B33B-4E6E-A2F6-BEC68A6E37F9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641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14EBD-1237-4E55-BC89-E164542E3AA7}" type="datetime1">
              <a:rPr lang="en-US" smtClean="0"/>
              <a:t>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46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AC925-EE62-4009-98AD-755168446E30}" type="datetime1">
              <a:rPr lang="en-US" smtClean="0"/>
              <a:t>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987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5C24F-17DA-4E79-B58C-E8015AE8A8C2}" type="datetime1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729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52D2D-A1E0-4373-990B-EA3DB64FE4D8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777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7731C-A6F1-4B86-A664-BB8E32ED3B60}" type="datetime1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36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7EA4D-53C8-42B5-B191-281814B3E2DC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87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2D8EF-227E-45CE-A1B5-43046EC113B6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01AA5-33D3-40EC-BCEE-2E1923D9AAF6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C1BC70-6D83-43F0-8455-F48C87024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109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				</a:t>
            </a:r>
            <a:r>
              <a:rPr lang="en-US" sz="3200" b="1" dirty="0" smtClean="0"/>
              <a:t>CHPATER SEVEN				</a:t>
            </a:r>
          </a:p>
          <a:p>
            <a:pPr marL="0" indent="0">
              <a:buNone/>
            </a:pPr>
            <a:r>
              <a:rPr lang="en-US" sz="3200" b="1" dirty="0"/>
              <a:t>	</a:t>
            </a:r>
            <a:r>
              <a:rPr lang="en-US" sz="3200" b="1" dirty="0" smtClean="0"/>
              <a:t>				       Testing </a:t>
            </a:r>
            <a:endParaRPr lang="en-US" sz="32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5BA76-56E3-4860-BD56-17E5E8F22107}" type="datetime1">
              <a:rPr lang="en-US" smtClean="0"/>
              <a:t>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09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 STRATEGIC APPROACH TO SOFTWARE TESTING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77873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			Verification and Validation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Verification: "</a:t>
            </a:r>
            <a:r>
              <a:rPr lang="en-US" b="1" dirty="0" smtClean="0"/>
              <a:t>Are we building the </a:t>
            </a:r>
            <a:r>
              <a:rPr lang="en-US" b="1" dirty="0" smtClean="0">
                <a:solidFill>
                  <a:srgbClr val="FF0000"/>
                </a:solidFill>
              </a:rPr>
              <a:t>product right</a:t>
            </a:r>
            <a:r>
              <a:rPr lang="en-US" dirty="0" smtClean="0"/>
              <a:t>?“</a:t>
            </a:r>
          </a:p>
          <a:p>
            <a:pPr marL="0" indent="0">
              <a:buNone/>
            </a:pPr>
            <a:r>
              <a:rPr lang="en-US" dirty="0" smtClean="0"/>
              <a:t> Validation: "</a:t>
            </a:r>
            <a:r>
              <a:rPr lang="en-US" b="1" dirty="0" smtClean="0"/>
              <a:t>Are we building the </a:t>
            </a:r>
            <a:r>
              <a:rPr lang="en-US" b="1" dirty="0" smtClean="0">
                <a:solidFill>
                  <a:srgbClr val="FF0000"/>
                </a:solidFill>
              </a:rPr>
              <a:t>right product</a:t>
            </a:r>
            <a:r>
              <a:rPr lang="en-US" dirty="0" smtClean="0"/>
              <a:t>?”</a:t>
            </a:r>
            <a:endParaRPr lang="en-US" dirty="0"/>
          </a:p>
          <a:p>
            <a:r>
              <a:rPr lang="en-US" dirty="0" smtClean="0"/>
              <a:t>Verification refers to the set of activities that ensure that software correctly implements a </a:t>
            </a:r>
            <a:r>
              <a:rPr lang="en-US" b="1" dirty="0" smtClean="0"/>
              <a:t>specific function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 Validation refers to a different set of activities that ensure that the software that has been built is traceable to </a:t>
            </a:r>
            <a:r>
              <a:rPr lang="en-US" b="1" dirty="0" smtClean="0"/>
              <a:t>customer requirements. 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D5E0-FA77-438F-B16B-6280DC1364D1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64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 STRATEGIC APPROACH TO SOFTWARE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Verification and validation includes a wide array of </a:t>
            </a:r>
            <a:r>
              <a:rPr lang="en-US" b="1" dirty="0" smtClean="0"/>
              <a:t>SQA activities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V &amp; V include </a:t>
            </a:r>
            <a:r>
              <a:rPr lang="en-US" b="1" dirty="0" smtClean="0"/>
              <a:t>formal technical reviews</a:t>
            </a:r>
            <a:r>
              <a:rPr lang="en-US" dirty="0" smtClean="0"/>
              <a:t>, quality and configuration audits, performance monitoring, simulation, feasibility study, documentation review, database review, algorithm analysis, development testing, qualification testing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906E8-09D3-4B7E-8013-36A3CC3CACFD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908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A Software Testing Strategy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6387" y="2567781"/>
            <a:ext cx="9039225" cy="286702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AEF8C-8E5C-42B7-860D-2FE8CA1BD448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39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A Software Testing Strategy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software engineering process may be viewed as the </a:t>
            </a:r>
            <a:r>
              <a:rPr lang="en-US" b="1" dirty="0" smtClean="0"/>
              <a:t>spiral</a:t>
            </a:r>
          </a:p>
          <a:p>
            <a:r>
              <a:rPr lang="en-US" dirty="0"/>
              <a:t>Initially, system engineering defines the role of software and leads to software requirements analysis, where the information domain, function, behavior, </a:t>
            </a:r>
            <a:r>
              <a:rPr lang="en-US" dirty="0" smtClean="0"/>
              <a:t>performance</a:t>
            </a:r>
            <a:r>
              <a:rPr lang="en-US" dirty="0"/>
              <a:t>, constraints, and validation criteria for software are </a:t>
            </a:r>
            <a:r>
              <a:rPr lang="en-US"/>
              <a:t>established</a:t>
            </a:r>
            <a:r>
              <a:rPr lang="en-US" smtClean="0"/>
              <a:t>.</a:t>
            </a:r>
            <a:endParaRPr lang="en-US" dirty="0" smtClean="0"/>
          </a:p>
          <a:p>
            <a:r>
              <a:rPr lang="en-US" dirty="0" smtClean="0"/>
              <a:t>While moving inward along the spiral, we come to design and finally to coding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EA121-79BC-4F55-8A69-31289A733D76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Please Prefer Roger S Pressman Book for Details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808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	</a:t>
            </a:r>
            <a:r>
              <a:rPr lang="en-US" b="1" dirty="0" smtClean="0"/>
              <a:t>Unit Testing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Unit testing </a:t>
            </a:r>
            <a:r>
              <a:rPr lang="en-US" dirty="0" smtClean="0"/>
              <a:t>focuses verification effort on the </a:t>
            </a:r>
            <a:r>
              <a:rPr lang="en-US" b="1" dirty="0" smtClean="0"/>
              <a:t>smallest unit </a:t>
            </a:r>
            <a:r>
              <a:rPr lang="en-US" dirty="0" smtClean="0"/>
              <a:t>of software design.</a:t>
            </a:r>
          </a:p>
          <a:p>
            <a:r>
              <a:rPr lang="en-US" b="1" dirty="0"/>
              <a:t>C</a:t>
            </a:r>
            <a:r>
              <a:rPr lang="en-US" b="1" dirty="0" smtClean="0"/>
              <a:t>ontrol paths </a:t>
            </a:r>
            <a:r>
              <a:rPr lang="en-US" dirty="0" smtClean="0"/>
              <a:t>are tested to uncover errors within the boundary of the module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F5876-908C-4AA3-A60F-FF10D4C56016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97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Unit Test Considerations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1288" y="1825625"/>
            <a:ext cx="10192512" cy="4351338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32011-0166-4F11-B589-A854C9EA4794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647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Unit Test Consideration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module interface </a:t>
            </a:r>
            <a:r>
              <a:rPr lang="en-US" dirty="0"/>
              <a:t>is tested to ensure that information properly flows into and out of the program unit under test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 </a:t>
            </a:r>
            <a:r>
              <a:rPr lang="en-US" b="1" dirty="0"/>
              <a:t>local data structure </a:t>
            </a:r>
            <a:r>
              <a:rPr lang="en-US" dirty="0"/>
              <a:t>is examined to ensure that data stored temporarily maintains its integrity during all steps in an algorithm's </a:t>
            </a:r>
            <a:r>
              <a:rPr lang="en-US" dirty="0" smtClean="0"/>
              <a:t>execution.</a:t>
            </a:r>
          </a:p>
          <a:p>
            <a:r>
              <a:rPr lang="en-US" dirty="0" smtClean="0"/>
              <a:t> </a:t>
            </a:r>
            <a:r>
              <a:rPr lang="en-US" b="1" dirty="0"/>
              <a:t>Boundary conditions</a:t>
            </a:r>
            <a:r>
              <a:rPr lang="en-US" dirty="0"/>
              <a:t> are tested to ensure that the module operates properly at boundaries established to limit or restrict processing. </a:t>
            </a:r>
            <a:endParaRPr lang="en-US" dirty="0" smtClean="0"/>
          </a:p>
          <a:p>
            <a:r>
              <a:rPr lang="en-US" dirty="0" smtClean="0"/>
              <a:t>All </a:t>
            </a:r>
            <a:r>
              <a:rPr lang="en-US" b="1" dirty="0"/>
              <a:t>independent paths (basis paths) </a:t>
            </a:r>
            <a:r>
              <a:rPr lang="en-US" dirty="0"/>
              <a:t>through the control structure are exercised to ensure that all statements in a module have been executed at least once. </a:t>
            </a:r>
            <a:endParaRPr lang="en-US" dirty="0" smtClean="0"/>
          </a:p>
          <a:p>
            <a:r>
              <a:rPr lang="en-US" dirty="0" smtClean="0"/>
              <a:t>And </a:t>
            </a:r>
            <a:r>
              <a:rPr lang="en-US" dirty="0"/>
              <a:t>finally, all error handling paths are tested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9229-CAB4-40BC-AC0F-C3215411ACC5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97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	Unit Test Procedure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Unit testing </a:t>
            </a:r>
            <a:r>
              <a:rPr lang="en-US" dirty="0"/>
              <a:t>is normally considered as an adjunct to the </a:t>
            </a:r>
            <a:r>
              <a:rPr lang="en-US" b="1" dirty="0"/>
              <a:t>coding step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After </a:t>
            </a:r>
            <a:r>
              <a:rPr lang="en-US" b="1" dirty="0"/>
              <a:t>source level</a:t>
            </a:r>
            <a:r>
              <a:rPr lang="en-US" dirty="0"/>
              <a:t> code has been developed, reviewed, and verified for correspondence to </a:t>
            </a:r>
            <a:r>
              <a:rPr lang="en-US" dirty="0" smtClean="0"/>
              <a:t>component level </a:t>
            </a:r>
            <a:r>
              <a:rPr lang="en-US" dirty="0"/>
              <a:t>design, unit test case design begins. 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EDAFE-9ABD-43F0-9A82-56AAAB2C7092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9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	Unit </a:t>
            </a:r>
            <a:r>
              <a:rPr lang="en-US" b="1" dirty="0"/>
              <a:t>Test Procedure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/>
              <a:t>D</a:t>
            </a:r>
            <a:r>
              <a:rPr lang="en-US" b="1" dirty="0" smtClean="0"/>
              <a:t>river </a:t>
            </a:r>
            <a:r>
              <a:rPr lang="en-US" b="1" dirty="0"/>
              <a:t>and/or stub </a:t>
            </a:r>
            <a:r>
              <a:rPr lang="en-US" dirty="0"/>
              <a:t>software </a:t>
            </a:r>
            <a:r>
              <a:rPr lang="en-US" dirty="0" smtClean="0"/>
              <a:t>is </a:t>
            </a:r>
            <a:r>
              <a:rPr lang="en-US" dirty="0"/>
              <a:t>developed for each unit test.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most applications a driver is nothing more than a "main program" that accepts </a:t>
            </a:r>
            <a:r>
              <a:rPr lang="en-US" b="1" dirty="0"/>
              <a:t>test case data</a:t>
            </a:r>
            <a:r>
              <a:rPr lang="en-US" dirty="0"/>
              <a:t>, passes such data to the component (to be tested), and </a:t>
            </a:r>
            <a:r>
              <a:rPr lang="en-US" b="1" dirty="0"/>
              <a:t>prints relevant results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stub or "</a:t>
            </a:r>
            <a:r>
              <a:rPr lang="en-US" b="1" dirty="0"/>
              <a:t>dummy subprogram" </a:t>
            </a:r>
            <a:r>
              <a:rPr lang="en-US" dirty="0"/>
              <a:t>uses the subordinate </a:t>
            </a:r>
            <a:r>
              <a:rPr lang="en-US" dirty="0" smtClean="0"/>
              <a:t>module's interface</a:t>
            </a:r>
            <a:r>
              <a:rPr lang="en-US" dirty="0"/>
              <a:t>.</a:t>
            </a:r>
            <a:r>
              <a:rPr lang="en-US" dirty="0" smtClean="0"/>
              <a:t> </a:t>
            </a:r>
          </a:p>
          <a:p>
            <a:r>
              <a:rPr lang="en-US" dirty="0" smtClean="0"/>
              <a:t>Stubs </a:t>
            </a:r>
            <a:r>
              <a:rPr lang="en-US" dirty="0"/>
              <a:t>serve to replace modules that are subordinate  the component to be tested.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F896E-3D3E-4FDA-B6B4-A6D19409FD8F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1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Unit Test Procedure 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4952" y="2279555"/>
            <a:ext cx="7690104" cy="348615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61485-2139-4316-82F0-F333E869A5D4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54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Integration Testing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they all work individually, why do you doubt that they'll work when we put them together?"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problem, of course, is "putting them together"—</a:t>
            </a:r>
            <a:r>
              <a:rPr lang="en-US" dirty="0" smtClean="0"/>
              <a:t>interfacing</a:t>
            </a:r>
          </a:p>
          <a:p>
            <a:pPr marL="1262063"/>
            <a:r>
              <a:rPr lang="en-US" i="1" dirty="0"/>
              <a:t>Data can be </a:t>
            </a:r>
            <a:r>
              <a:rPr lang="en-US" b="1" i="1" dirty="0"/>
              <a:t>lost</a:t>
            </a:r>
            <a:r>
              <a:rPr lang="en-US" i="1" dirty="0"/>
              <a:t> across an </a:t>
            </a:r>
            <a:r>
              <a:rPr lang="en-US" i="1" dirty="0" smtClean="0"/>
              <a:t>interface</a:t>
            </a:r>
          </a:p>
          <a:p>
            <a:pPr marL="1262063"/>
            <a:r>
              <a:rPr lang="en-US" i="1" dirty="0" smtClean="0"/>
              <a:t>one </a:t>
            </a:r>
            <a:r>
              <a:rPr lang="en-US" i="1" dirty="0"/>
              <a:t>module can </a:t>
            </a:r>
            <a:r>
              <a:rPr lang="en-US" i="1" dirty="0" smtClean="0"/>
              <a:t>have </a:t>
            </a:r>
            <a:r>
              <a:rPr lang="en-US" b="1" i="1" dirty="0" smtClean="0"/>
              <a:t>adverse </a:t>
            </a:r>
            <a:r>
              <a:rPr lang="en-US" b="1" i="1" dirty="0"/>
              <a:t>affect</a:t>
            </a:r>
            <a:r>
              <a:rPr lang="en-US" i="1" dirty="0"/>
              <a:t> on </a:t>
            </a:r>
            <a:r>
              <a:rPr lang="en-US" i="1" dirty="0" smtClean="0"/>
              <a:t>another </a:t>
            </a:r>
          </a:p>
          <a:p>
            <a:pPr marL="1262063"/>
            <a:r>
              <a:rPr lang="en-US" i="1" dirty="0" smtClean="0"/>
              <a:t>sub functions, </a:t>
            </a:r>
            <a:r>
              <a:rPr lang="en-US" i="1" dirty="0"/>
              <a:t>when combined, may not </a:t>
            </a:r>
            <a:r>
              <a:rPr lang="en-US" i="1" dirty="0" smtClean="0"/>
              <a:t>produce </a:t>
            </a:r>
            <a:r>
              <a:rPr lang="en-US" i="1" dirty="0"/>
              <a:t>the </a:t>
            </a:r>
            <a:r>
              <a:rPr lang="en-US" b="1" i="1" dirty="0"/>
              <a:t>desired major </a:t>
            </a:r>
            <a:r>
              <a:rPr lang="en-US" b="1" i="1" dirty="0" smtClean="0"/>
              <a:t>function</a:t>
            </a:r>
          </a:p>
          <a:p>
            <a:pPr marL="1262063"/>
            <a:r>
              <a:rPr lang="en-US" i="1" dirty="0"/>
              <a:t>I</a:t>
            </a:r>
            <a:r>
              <a:rPr lang="en-US" i="1" dirty="0" smtClean="0"/>
              <a:t>ndividually </a:t>
            </a:r>
            <a:r>
              <a:rPr lang="en-US" i="1" dirty="0"/>
              <a:t>acceptable </a:t>
            </a:r>
            <a:r>
              <a:rPr lang="en-US" i="1" dirty="0" smtClean="0"/>
              <a:t>error </a:t>
            </a:r>
            <a:r>
              <a:rPr lang="en-US" i="1" dirty="0"/>
              <a:t>may be </a:t>
            </a:r>
            <a:r>
              <a:rPr lang="en-US" b="1" i="1" dirty="0" smtClean="0"/>
              <a:t>magnified</a:t>
            </a:r>
            <a:r>
              <a:rPr lang="en-US" i="1" dirty="0" smtClean="0"/>
              <a:t> </a:t>
            </a:r>
            <a:r>
              <a:rPr lang="en-US" i="1" dirty="0"/>
              <a:t>to unacceptable </a:t>
            </a:r>
            <a:r>
              <a:rPr lang="en-US" i="1" dirty="0" smtClean="0"/>
              <a:t>levels</a:t>
            </a:r>
          </a:p>
          <a:p>
            <a:pPr marL="1262063"/>
            <a:r>
              <a:rPr lang="en-US" b="1" i="1" dirty="0"/>
              <a:t>G</a:t>
            </a:r>
            <a:r>
              <a:rPr lang="en-US" b="1" i="1" dirty="0" smtClean="0"/>
              <a:t>lobal </a:t>
            </a:r>
            <a:r>
              <a:rPr lang="en-US" b="1" i="1" dirty="0"/>
              <a:t>data </a:t>
            </a:r>
            <a:r>
              <a:rPr lang="en-US" i="1" dirty="0"/>
              <a:t>structures can present problems.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FE24A-1808-43B3-A1C3-FC771686FD7C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46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	Integration </a:t>
            </a:r>
            <a:r>
              <a:rPr lang="en-US" b="1" dirty="0"/>
              <a:t>Testing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Non-incremental integration : </a:t>
            </a:r>
            <a:r>
              <a:rPr lang="en-US" dirty="0" smtClean="0"/>
              <a:t>follow big bang approach </a:t>
            </a:r>
            <a:r>
              <a:rPr lang="en-US" dirty="0" smtClean="0">
                <a:sym typeface="Wingdings" panose="05000000000000000000" pitchFamily="2" charset="2"/>
              </a:rPr>
              <a:t> the entire program is tested as a whole. </a:t>
            </a:r>
            <a:endParaRPr lang="en-US" dirty="0" smtClean="0"/>
          </a:p>
          <a:p>
            <a:r>
              <a:rPr lang="en-US" b="1" dirty="0" smtClean="0"/>
              <a:t>Incremental Integration :</a:t>
            </a:r>
            <a:r>
              <a:rPr lang="en-US" dirty="0" smtClean="0"/>
              <a:t>Program is constructed and tested in small increments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EB674-2856-4854-8F67-E246362C356E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Integration Testing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b="1" dirty="0" smtClean="0"/>
              <a:t>Top Down Integration </a:t>
            </a:r>
          </a:p>
          <a:p>
            <a:pPr marL="0" indent="0">
              <a:buNone/>
            </a:pPr>
            <a:r>
              <a:rPr lang="en-US" b="1" dirty="0" smtClean="0"/>
              <a:t>2. Bottom-Up Integration 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60D4E-469A-422E-805A-4ECBAC779EE2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28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Top-Down Integration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Top-down integration testing is an </a:t>
            </a:r>
            <a:r>
              <a:rPr lang="en-US" b="1" dirty="0"/>
              <a:t>incremental approach </a:t>
            </a:r>
            <a:r>
              <a:rPr lang="en-US" dirty="0"/>
              <a:t>to construction of program structure. </a:t>
            </a:r>
            <a:endParaRPr lang="en-US" dirty="0" smtClean="0"/>
          </a:p>
          <a:p>
            <a:r>
              <a:rPr lang="en-US" dirty="0" smtClean="0"/>
              <a:t>Modules </a:t>
            </a:r>
            <a:r>
              <a:rPr lang="en-US" dirty="0"/>
              <a:t>are integrated by moving </a:t>
            </a:r>
            <a:r>
              <a:rPr lang="en-US" b="1" dirty="0"/>
              <a:t>downward through the control </a:t>
            </a:r>
            <a:r>
              <a:rPr lang="en-US" dirty="0" smtClean="0"/>
              <a:t>hierarchy</a:t>
            </a:r>
            <a:r>
              <a:rPr lang="en-US" dirty="0"/>
              <a:t>, beginning with the main control module (main program</a:t>
            </a:r>
            <a:r>
              <a:rPr lang="en-US" dirty="0" smtClean="0"/>
              <a:t>).</a:t>
            </a:r>
          </a:p>
          <a:p>
            <a:r>
              <a:rPr lang="en-US" dirty="0" smtClean="0"/>
              <a:t> </a:t>
            </a:r>
            <a:r>
              <a:rPr lang="en-US" dirty="0"/>
              <a:t>Modules subordinate </a:t>
            </a:r>
            <a:r>
              <a:rPr lang="en-US" dirty="0" smtClean="0"/>
              <a:t> </a:t>
            </a:r>
            <a:r>
              <a:rPr lang="en-US" dirty="0"/>
              <a:t>to the main control module are incorporated into the structure in either a depth-first or breadth-first manner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2AF17-1C3F-4FE4-85FF-53E7135CC356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35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	Top-Down </a:t>
            </a:r>
            <a:r>
              <a:rPr lang="en-US" b="1" dirty="0"/>
              <a:t>Integration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9304" y="2222595"/>
            <a:ext cx="10064495" cy="366712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A7FB-5D45-49E0-B71E-26DE405E1C98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9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	Top-Down </a:t>
            </a:r>
            <a:r>
              <a:rPr lang="en-US" b="1" dirty="0"/>
              <a:t>Integration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5088" y="1690688"/>
            <a:ext cx="10515600" cy="4351338"/>
          </a:xfrm>
        </p:spPr>
        <p:txBody>
          <a:bodyPr/>
          <a:lstStyle/>
          <a:p>
            <a:r>
              <a:rPr lang="en-US" b="1" dirty="0" smtClean="0"/>
              <a:t>Depth- first Integration </a:t>
            </a:r>
            <a:r>
              <a:rPr lang="en-US" dirty="0" smtClean="0"/>
              <a:t>– M1, M2, M5, M8</a:t>
            </a:r>
            <a:endParaRPr lang="en-US" dirty="0"/>
          </a:p>
          <a:p>
            <a:r>
              <a:rPr lang="en-US" b="1" dirty="0" smtClean="0"/>
              <a:t>Breath-first Integration </a:t>
            </a:r>
            <a:r>
              <a:rPr lang="en-US" dirty="0" smtClean="0"/>
              <a:t>–Components M2,M3 and M4 would be integrated first. The next control level M5, M6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02EAE-2EEF-4A87-BFEE-951554EBEAC9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78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Bottom-up </a:t>
            </a:r>
            <a:r>
              <a:rPr lang="en-US" b="1" dirty="0"/>
              <a:t>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Components </a:t>
            </a:r>
            <a:r>
              <a:rPr lang="en-US" dirty="0"/>
              <a:t>are </a:t>
            </a:r>
            <a:r>
              <a:rPr lang="en-US" dirty="0" smtClean="0"/>
              <a:t>combined </a:t>
            </a:r>
            <a:r>
              <a:rPr lang="en-US" dirty="0"/>
              <a:t>to form clusters 1, 2, and 3. </a:t>
            </a:r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/>
              <a:t>of the clusters is tested using a driver (shown as a dashed block). Components in clusters 1 and 2 are subordinate to Ma. </a:t>
            </a:r>
            <a:endParaRPr lang="en-US" dirty="0" smtClean="0"/>
          </a:p>
          <a:p>
            <a:r>
              <a:rPr lang="en-US" dirty="0" smtClean="0"/>
              <a:t>Drivers </a:t>
            </a:r>
            <a:r>
              <a:rPr lang="en-US" dirty="0"/>
              <a:t>D1 and D2 are removed and the clusters are interfaced directly to Ma. </a:t>
            </a:r>
            <a:endParaRPr lang="en-US" dirty="0" smtClean="0"/>
          </a:p>
          <a:p>
            <a:r>
              <a:rPr lang="en-US" dirty="0" smtClean="0"/>
              <a:t>Similarly</a:t>
            </a:r>
            <a:r>
              <a:rPr lang="en-US" dirty="0"/>
              <a:t>, driver D3 for cluster 3 is removed prior to integration with module Mb. Both Ma and Mb will ultimately be integrated with component Mc, and so forth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15010-F260-43F9-B09D-FDA5A827F764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13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	Bottom-up </a:t>
            </a:r>
            <a:r>
              <a:rPr lang="en-US" b="1" dirty="0"/>
              <a:t>Integration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D25A5-2523-4689-BCCC-AC413C2492DB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80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			Regression Testing 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time a new module is added as part of integration testing, the software changes. </a:t>
            </a:r>
            <a:endParaRPr lang="en-US" dirty="0" smtClean="0"/>
          </a:p>
          <a:p>
            <a:r>
              <a:rPr lang="en-US" dirty="0" smtClean="0"/>
              <a:t>New </a:t>
            </a:r>
            <a:r>
              <a:rPr lang="en-US" dirty="0"/>
              <a:t>data flow paths are established, new I/O may occur, and new control logic is invoked.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changes may cause problems with functions that previously worked flawlessly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In the context of an integration test strategy, regression testing is the </a:t>
            </a:r>
            <a:r>
              <a:rPr lang="en-US" dirty="0" smtClean="0"/>
              <a:t>re-execution </a:t>
            </a:r>
            <a:r>
              <a:rPr lang="en-US" dirty="0"/>
              <a:t>of some subset of tests that have already been conducted to ensure that changes have not propagated unintended side effects.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4408-9CD3-4932-AC74-B7534932D255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38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Regression Testing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Regression testing may be conducted </a:t>
            </a:r>
            <a:r>
              <a:rPr lang="en-US" b="1" dirty="0"/>
              <a:t>manually</a:t>
            </a:r>
            <a:r>
              <a:rPr lang="en-US" dirty="0"/>
              <a:t>, by </a:t>
            </a:r>
            <a:r>
              <a:rPr lang="en-US" b="1" dirty="0"/>
              <a:t>re-executing a subset of all test cases </a:t>
            </a:r>
            <a:r>
              <a:rPr lang="en-US" dirty="0"/>
              <a:t>or using </a:t>
            </a:r>
            <a:r>
              <a:rPr lang="en-US" b="1" dirty="0"/>
              <a:t>automated capture/playback tools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b="1" dirty="0" smtClean="0"/>
              <a:t>Capture/playback</a:t>
            </a:r>
            <a:r>
              <a:rPr lang="en-US" dirty="0" smtClean="0"/>
              <a:t> </a:t>
            </a:r>
            <a:r>
              <a:rPr lang="en-US" dirty="0"/>
              <a:t>tools enable the software engineer to capture test cases and results for subsequent playback and </a:t>
            </a:r>
            <a:r>
              <a:rPr lang="en-US" dirty="0" smtClean="0"/>
              <a:t>comparison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Automatic – Software use</a:t>
            </a:r>
          </a:p>
          <a:p>
            <a:r>
              <a:rPr lang="en-US" dirty="0" smtClean="0"/>
              <a:t>Manual – We manually write the test cases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DE2B-1F73-4D5B-A614-846A2AE62F73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25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SMOKE TESTING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Smoke testing is one of the popular software testing services performed after software </a:t>
            </a:r>
            <a:r>
              <a:rPr lang="en-US" b="1" dirty="0" smtClean="0"/>
              <a:t>build </a:t>
            </a:r>
            <a:r>
              <a:rPr lang="en-US" dirty="0" smtClean="0"/>
              <a:t>to find the  </a:t>
            </a:r>
            <a:r>
              <a:rPr lang="en-US" b="1" dirty="0" smtClean="0"/>
              <a:t>functionalities</a:t>
            </a:r>
            <a:r>
              <a:rPr lang="en-US" dirty="0" smtClean="0"/>
              <a:t> of the program are working fine.</a:t>
            </a:r>
          </a:p>
          <a:p>
            <a:pPr marL="0" indent="0">
              <a:buNone/>
            </a:pPr>
            <a:r>
              <a:rPr lang="en-US" dirty="0" smtClean="0"/>
              <a:t>		Smoke </a:t>
            </a:r>
            <a:r>
              <a:rPr lang="en-US" dirty="0"/>
              <a:t>testing approach encompasses the following </a:t>
            </a:r>
            <a:r>
              <a:rPr lang="en-US" dirty="0" smtClean="0"/>
              <a:t>activities:</a:t>
            </a:r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i="1" dirty="0"/>
              <a:t>Software components that have been translated into code are integrated into a “</a:t>
            </a:r>
            <a:r>
              <a:rPr lang="en-US" b="1" i="1" dirty="0"/>
              <a:t>build</a:t>
            </a:r>
            <a:r>
              <a:rPr lang="en-US" b="1" dirty="0"/>
              <a:t>.” </a:t>
            </a:r>
            <a:r>
              <a:rPr lang="en-US" sz="1500" dirty="0"/>
              <a:t>A build includes all data files, libraries, reusable modules, and </a:t>
            </a:r>
            <a:r>
              <a:rPr lang="en-US" sz="1500" dirty="0" smtClean="0"/>
              <a:t>engineered </a:t>
            </a:r>
            <a:r>
              <a:rPr lang="en-US" sz="1500" dirty="0"/>
              <a:t>components that are required to implement one or more product functions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2. </a:t>
            </a:r>
            <a:r>
              <a:rPr lang="en-US" i="1" dirty="0"/>
              <a:t>A series of tests is designed to </a:t>
            </a:r>
            <a:r>
              <a:rPr lang="en-US" b="1" i="1" dirty="0"/>
              <a:t>expose errors </a:t>
            </a:r>
            <a:endParaRPr lang="en-US" b="1" i="1" dirty="0" smtClean="0"/>
          </a:p>
          <a:p>
            <a:pPr marL="0" indent="0">
              <a:buNone/>
            </a:pPr>
            <a:r>
              <a:rPr lang="en-US" dirty="0" smtClean="0"/>
              <a:t>3. </a:t>
            </a:r>
            <a:r>
              <a:rPr lang="en-US" i="1" dirty="0" smtClean="0"/>
              <a:t>The build is </a:t>
            </a:r>
            <a:r>
              <a:rPr lang="en-US" b="1" i="1" dirty="0" smtClean="0"/>
              <a:t>integrated</a:t>
            </a:r>
            <a:r>
              <a:rPr lang="en-US" i="1" dirty="0" smtClean="0"/>
              <a:t> with other builds and the entire product (in its current form) is smoke tested daily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E5656-2712-4DCB-BDB9-36E2C0E0C36C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49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	SMOKE </a:t>
            </a:r>
            <a:r>
              <a:rPr lang="en-US" b="1" dirty="0"/>
              <a:t>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Smoke testing provides a number of </a:t>
            </a:r>
            <a:r>
              <a:rPr lang="en-US" dirty="0" smtClean="0"/>
              <a:t>benefits:</a:t>
            </a:r>
          </a:p>
          <a:p>
            <a:r>
              <a:rPr lang="en-US" dirty="0" smtClean="0"/>
              <a:t> </a:t>
            </a:r>
            <a:r>
              <a:rPr lang="en-US" i="1" dirty="0"/>
              <a:t>Integration risk is </a:t>
            </a:r>
            <a:r>
              <a:rPr lang="en-US" i="1" dirty="0" smtClean="0"/>
              <a:t>minimized</a:t>
            </a:r>
          </a:p>
          <a:p>
            <a:r>
              <a:rPr lang="en-US" i="1" dirty="0"/>
              <a:t>The quality of the end-product is </a:t>
            </a:r>
            <a:r>
              <a:rPr lang="en-US" i="1" dirty="0" smtClean="0"/>
              <a:t>improved</a:t>
            </a:r>
          </a:p>
          <a:p>
            <a:r>
              <a:rPr lang="en-US" i="1" dirty="0"/>
              <a:t>Error diagnosis and correction are </a:t>
            </a:r>
            <a:r>
              <a:rPr lang="en-US" i="1" dirty="0" smtClean="0"/>
              <a:t>simplified</a:t>
            </a:r>
          </a:p>
          <a:p>
            <a:pPr marL="0" indent="0">
              <a:buNone/>
            </a:pPr>
            <a:r>
              <a:rPr lang="en-US" i="1" dirty="0"/>
              <a:t>• Progress is easier to assess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DABF8-350A-4A24-B29F-30A2E301D0BC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65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SMOKE TESTING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3925" y="3153569"/>
            <a:ext cx="10344150" cy="169545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2692E-D5D5-4045-A463-C6F0921F78FC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6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VALIDATION </a:t>
            </a:r>
            <a:r>
              <a:rPr lang="en-US" b="1" dirty="0"/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Validation can be defined in many ways, but a simple </a:t>
            </a:r>
            <a:r>
              <a:rPr lang="en-US" dirty="0" smtClean="0"/>
              <a:t>definition </a:t>
            </a:r>
            <a:r>
              <a:rPr lang="en-US" dirty="0"/>
              <a:t>is that validation succeeds when software </a:t>
            </a:r>
            <a:r>
              <a:rPr lang="en-US" dirty="0" smtClean="0"/>
              <a:t>functions </a:t>
            </a:r>
            <a:r>
              <a:rPr lang="en-US" dirty="0"/>
              <a:t>in a manner that can be reasonably expected by the customer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776ED-8F5B-4545-A979-E23F541C1FE5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3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	VALIDATION </a:t>
            </a:r>
            <a:r>
              <a:rPr lang="en-US" b="1" dirty="0"/>
              <a:t>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each validation test case has been conducted, one of two possible </a:t>
            </a:r>
            <a:r>
              <a:rPr lang="en-US" dirty="0" smtClean="0"/>
              <a:t>conditions </a:t>
            </a:r>
            <a:r>
              <a:rPr lang="en-US" dirty="0"/>
              <a:t>exist: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(</a:t>
            </a:r>
            <a:r>
              <a:rPr lang="en-US" dirty="0"/>
              <a:t>1) The function </a:t>
            </a:r>
            <a:r>
              <a:rPr lang="en-US" dirty="0" smtClean="0"/>
              <a:t>conform </a:t>
            </a:r>
            <a:r>
              <a:rPr lang="en-US" dirty="0"/>
              <a:t>to s</a:t>
            </a:r>
            <a:r>
              <a:rPr lang="en-US" b="1" dirty="0"/>
              <a:t>pecification</a:t>
            </a:r>
            <a:r>
              <a:rPr lang="en-US" dirty="0"/>
              <a:t> and are accepted 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(2) </a:t>
            </a:r>
            <a:r>
              <a:rPr lang="en-US" dirty="0" smtClean="0"/>
              <a:t>A </a:t>
            </a:r>
            <a:r>
              <a:rPr lang="en-US" dirty="0"/>
              <a:t>d</a:t>
            </a:r>
            <a:r>
              <a:rPr lang="en-US" dirty="0" smtClean="0"/>
              <a:t>eviation </a:t>
            </a:r>
            <a:r>
              <a:rPr lang="en-US" dirty="0"/>
              <a:t>from specification is </a:t>
            </a:r>
            <a:r>
              <a:rPr lang="en-US" b="1" dirty="0"/>
              <a:t>uncovered</a:t>
            </a:r>
            <a:r>
              <a:rPr lang="en-US" dirty="0"/>
              <a:t> and a </a:t>
            </a:r>
            <a:r>
              <a:rPr lang="en-US" b="1" dirty="0"/>
              <a:t>deficiency</a:t>
            </a:r>
            <a:r>
              <a:rPr lang="en-US" dirty="0"/>
              <a:t> list is created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67BE3-0482-40AF-893B-B531808F5FE7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89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Configuration Review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important element of the validation process is a configuration review. </a:t>
            </a:r>
            <a:endParaRPr lang="en-US" dirty="0" smtClean="0"/>
          </a:p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intent of the review is to ensure that all </a:t>
            </a:r>
            <a:r>
              <a:rPr lang="en-US" b="1" dirty="0"/>
              <a:t>elements</a:t>
            </a:r>
            <a:r>
              <a:rPr lang="en-US" dirty="0"/>
              <a:t> of the software </a:t>
            </a:r>
            <a:r>
              <a:rPr lang="en-US" b="1" dirty="0"/>
              <a:t>configuration </a:t>
            </a:r>
            <a:r>
              <a:rPr lang="en-US" dirty="0"/>
              <a:t>have been properly developed, are cataloged, and have the necessary detail to </a:t>
            </a:r>
            <a:r>
              <a:rPr lang="en-US" dirty="0" smtClean="0"/>
              <a:t>support </a:t>
            </a:r>
            <a:r>
              <a:rPr lang="en-US" dirty="0"/>
              <a:t>phase of the software life cycle.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configuration review, sometimes called an </a:t>
            </a:r>
            <a:r>
              <a:rPr lang="en-US" b="1" dirty="0"/>
              <a:t>audit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467FA-D901-4E61-8F8B-572283E4C455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245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</a:t>
            </a:r>
            <a:r>
              <a:rPr lang="en-US" b="1" dirty="0" smtClean="0"/>
              <a:t>	Alpha </a:t>
            </a:r>
            <a:r>
              <a:rPr lang="en-US" b="1" dirty="0"/>
              <a:t>and Beta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0" lvl="8" indent="0">
              <a:buNone/>
            </a:pPr>
            <a:r>
              <a:rPr lang="en-US" b="1" dirty="0" smtClean="0"/>
              <a:t>Alpha Testing</a:t>
            </a:r>
            <a:endParaRPr lang="en-US" b="1" dirty="0"/>
          </a:p>
          <a:p>
            <a:pPr marL="3657600" lvl="8" indent="0">
              <a:buNone/>
            </a:pP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alpha test is conducted at the </a:t>
            </a:r>
            <a:r>
              <a:rPr lang="en-US" b="1" dirty="0"/>
              <a:t>developer's site </a:t>
            </a:r>
            <a:r>
              <a:rPr lang="en-US" dirty="0"/>
              <a:t>by a </a:t>
            </a:r>
            <a:r>
              <a:rPr lang="en-US" b="1" dirty="0" smtClean="0"/>
              <a:t>developer.</a:t>
            </a:r>
          </a:p>
          <a:p>
            <a:r>
              <a:rPr lang="en-US" dirty="0" smtClean="0"/>
              <a:t>The developers are </a:t>
            </a:r>
            <a:r>
              <a:rPr lang="en-US" b="1" dirty="0" smtClean="0"/>
              <a:t>presented </a:t>
            </a:r>
            <a:r>
              <a:rPr lang="en-US" dirty="0" smtClean="0"/>
              <a:t>during testing</a:t>
            </a:r>
          </a:p>
          <a:p>
            <a:r>
              <a:rPr lang="en-US" dirty="0" smtClean="0"/>
              <a:t>The developers records the errors and usage problems</a:t>
            </a:r>
          </a:p>
          <a:p>
            <a:r>
              <a:rPr lang="en-US" dirty="0" smtClean="0"/>
              <a:t>Alpha </a:t>
            </a:r>
            <a:r>
              <a:rPr lang="en-US" dirty="0"/>
              <a:t>tests are conducted in a </a:t>
            </a:r>
            <a:r>
              <a:rPr lang="en-US" b="1" dirty="0"/>
              <a:t>controlled environment.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62C5-B344-4FBE-B735-C7F24C9014F0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95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	Alpha </a:t>
            </a:r>
            <a:r>
              <a:rPr lang="en-US" b="1" dirty="0"/>
              <a:t>and Beta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				Beta Testing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 smtClean="0"/>
              <a:t>Conducted at the </a:t>
            </a:r>
            <a:r>
              <a:rPr lang="en-US" b="1" dirty="0" smtClean="0"/>
              <a:t>customer sites </a:t>
            </a:r>
            <a:r>
              <a:rPr lang="en-US" dirty="0" smtClean="0"/>
              <a:t>by the </a:t>
            </a:r>
            <a:r>
              <a:rPr lang="en-US" b="1" dirty="0" smtClean="0"/>
              <a:t>end users </a:t>
            </a:r>
          </a:p>
          <a:p>
            <a:r>
              <a:rPr lang="en-US" dirty="0" smtClean="0"/>
              <a:t>The customer records all the errors and reports them to the developer at regular intervals</a:t>
            </a:r>
          </a:p>
          <a:p>
            <a:r>
              <a:rPr lang="en-US" dirty="0" smtClean="0"/>
              <a:t>Software is used in an </a:t>
            </a:r>
            <a:r>
              <a:rPr lang="en-US" b="1" dirty="0" smtClean="0"/>
              <a:t>uncontrolled environment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8D3CE-47A9-482C-81D1-6B424675042A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25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	</a:t>
            </a:r>
            <a:r>
              <a:rPr lang="en-US" b="1" dirty="0" smtClean="0"/>
              <a:t>System Testing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0935"/>
          </a:xfrm>
        </p:spPr>
        <p:txBody>
          <a:bodyPr/>
          <a:lstStyle/>
          <a:p>
            <a:r>
              <a:rPr lang="en-US" dirty="0"/>
              <a:t>System testing is actually a series of different tests whose primary purpose is to </a:t>
            </a:r>
            <a:r>
              <a:rPr lang="en-US" b="1" dirty="0"/>
              <a:t>fully exercise </a:t>
            </a:r>
            <a:r>
              <a:rPr lang="en-US" dirty="0"/>
              <a:t>the computer-based system.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			</a:t>
            </a:r>
            <a:r>
              <a:rPr lang="en-US" b="1" dirty="0" smtClean="0"/>
              <a:t>System Testing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1. </a:t>
            </a:r>
            <a:r>
              <a:rPr lang="en-US" i="1" dirty="0" smtClean="0"/>
              <a:t>Recovering Testing – ()</a:t>
            </a:r>
          </a:p>
          <a:p>
            <a:pPr marL="0" indent="0">
              <a:buNone/>
            </a:pPr>
            <a:r>
              <a:rPr lang="en-US" i="1" dirty="0"/>
              <a:t>	</a:t>
            </a:r>
            <a:r>
              <a:rPr lang="en-US" i="1" dirty="0" smtClean="0"/>
              <a:t>				2.Security Testing—()</a:t>
            </a:r>
          </a:p>
          <a:p>
            <a:pPr marL="0" indent="0">
              <a:buNone/>
            </a:pPr>
            <a:r>
              <a:rPr lang="en-US" i="1" dirty="0"/>
              <a:t>	</a:t>
            </a:r>
            <a:r>
              <a:rPr lang="en-US" i="1" dirty="0" smtClean="0"/>
              <a:t>				3. Stress Testing – ()</a:t>
            </a:r>
          </a:p>
          <a:p>
            <a:pPr marL="0" indent="0">
              <a:buNone/>
            </a:pPr>
            <a:r>
              <a:rPr lang="en-US" i="1" dirty="0"/>
              <a:t>	</a:t>
            </a:r>
            <a:r>
              <a:rPr lang="en-US" i="1" dirty="0" smtClean="0"/>
              <a:t>				4. Performance Testing--- ()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CC29F-BCBE-4F10-AD30-FA411D84F397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47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Recovery Testing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US" dirty="0" smtClean="0"/>
              <a:t>ecovery </a:t>
            </a:r>
            <a:r>
              <a:rPr lang="en-US" dirty="0"/>
              <a:t>testing is a </a:t>
            </a:r>
            <a:r>
              <a:rPr lang="en-US" b="1" dirty="0"/>
              <a:t>system test </a:t>
            </a:r>
            <a:r>
              <a:rPr lang="en-US" dirty="0"/>
              <a:t>that forces the software </a:t>
            </a:r>
            <a:r>
              <a:rPr lang="en-US" b="1" dirty="0"/>
              <a:t>to fail </a:t>
            </a:r>
            <a:r>
              <a:rPr lang="en-US" dirty="0"/>
              <a:t>in a variety of </a:t>
            </a:r>
            <a:r>
              <a:rPr lang="en-US" b="1" dirty="0"/>
              <a:t>ways</a:t>
            </a:r>
            <a:r>
              <a:rPr lang="en-US" dirty="0"/>
              <a:t> and </a:t>
            </a:r>
            <a:r>
              <a:rPr lang="en-US" b="1" dirty="0"/>
              <a:t>verifies </a:t>
            </a:r>
            <a:r>
              <a:rPr lang="en-US" dirty="0"/>
              <a:t>that recovery is properly performed. </a:t>
            </a:r>
            <a:endParaRPr lang="en-US" dirty="0" smtClean="0"/>
          </a:p>
          <a:p>
            <a:r>
              <a:rPr lang="en-US" dirty="0"/>
              <a:t>If recovery is </a:t>
            </a:r>
            <a:r>
              <a:rPr lang="en-US" b="1" dirty="0"/>
              <a:t>automatic</a:t>
            </a:r>
            <a:r>
              <a:rPr lang="en-US" dirty="0"/>
              <a:t> </a:t>
            </a:r>
            <a:r>
              <a:rPr lang="en-US" dirty="0" smtClean="0"/>
              <a:t> re-initialization, </a:t>
            </a:r>
            <a:r>
              <a:rPr lang="en-US" dirty="0"/>
              <a:t>data recovery, and restart are evaluated for correctness.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recovery requires </a:t>
            </a:r>
            <a:r>
              <a:rPr lang="en-US" b="1" dirty="0"/>
              <a:t>human intervention</a:t>
            </a:r>
            <a:r>
              <a:rPr lang="en-US" dirty="0"/>
              <a:t>, the mean-time-to-repair (MTTR) is evaluated to determine whether it is within </a:t>
            </a:r>
            <a:r>
              <a:rPr lang="en-US" dirty="0" smtClean="0"/>
              <a:t>acceptable </a:t>
            </a:r>
            <a:r>
              <a:rPr lang="en-US" dirty="0"/>
              <a:t>limits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DC6E8-050D-4AD9-8FF0-0FE2CAEF2FEF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3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	</a:t>
            </a:r>
            <a:r>
              <a:rPr lang="en-US" b="1" dirty="0" smtClean="0"/>
              <a:t>Security </a:t>
            </a:r>
            <a:r>
              <a:rPr lang="en-US" b="1" dirty="0"/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Security testing attempts to </a:t>
            </a:r>
            <a:r>
              <a:rPr lang="en-US" b="1" dirty="0"/>
              <a:t>verify </a:t>
            </a:r>
            <a:r>
              <a:rPr lang="en-US" dirty="0"/>
              <a:t>that protection mechanisms built into a system will, in fact, protect it from improper penetration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During security testing the tester plays the role of </a:t>
            </a:r>
            <a:r>
              <a:rPr lang="en-US" b="1" dirty="0" smtClean="0"/>
              <a:t>hackers</a:t>
            </a:r>
            <a:r>
              <a:rPr lang="en-US" dirty="0" smtClean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6B3E2-4306-48F9-BAAB-E9B0473B884A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712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	</a:t>
            </a:r>
            <a:r>
              <a:rPr lang="en-US" b="1" dirty="0" smtClean="0"/>
              <a:t>Stress Testing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Stress testing are designed to confront programs with </a:t>
            </a:r>
            <a:r>
              <a:rPr lang="en-US" b="1" dirty="0" smtClean="0"/>
              <a:t>abnormal situation.</a:t>
            </a:r>
          </a:p>
          <a:p>
            <a:r>
              <a:rPr lang="en-US" dirty="0" smtClean="0"/>
              <a:t>Stress testing executes a system in a manner that </a:t>
            </a:r>
            <a:r>
              <a:rPr lang="en-US" b="1" dirty="0" smtClean="0"/>
              <a:t>demands resources</a:t>
            </a:r>
            <a:r>
              <a:rPr lang="en-US" dirty="0" smtClean="0"/>
              <a:t> in </a:t>
            </a:r>
            <a:r>
              <a:rPr lang="en-US" b="1" dirty="0" smtClean="0"/>
              <a:t>abnormal</a:t>
            </a:r>
            <a:r>
              <a:rPr lang="en-US" dirty="0" smtClean="0"/>
              <a:t> quantity, frequency or volume </a:t>
            </a:r>
          </a:p>
          <a:p>
            <a:r>
              <a:rPr lang="en-US" dirty="0" smtClean="0"/>
              <a:t>A </a:t>
            </a:r>
            <a:r>
              <a:rPr lang="en-US" b="1" dirty="0" smtClean="0"/>
              <a:t>variation</a:t>
            </a:r>
            <a:r>
              <a:rPr lang="en-US" dirty="0" smtClean="0"/>
              <a:t> of stress testing is a technique called </a:t>
            </a:r>
            <a:r>
              <a:rPr lang="en-US" b="1" dirty="0" smtClean="0"/>
              <a:t>sensitivity testing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B131-0F95-4156-95F2-6F39786592FF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</a:t>
            </a:r>
            <a:r>
              <a:rPr lang="en-US" b="1" dirty="0" smtClean="0"/>
              <a:t>Performance Testing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 testing is designed to test the </a:t>
            </a:r>
            <a:r>
              <a:rPr lang="en-US" b="1" dirty="0"/>
              <a:t>run-time performance </a:t>
            </a:r>
            <a:r>
              <a:rPr lang="en-US" dirty="0"/>
              <a:t>of software within the context of an integrated system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Performance testing occurs throughout </a:t>
            </a:r>
            <a:r>
              <a:rPr lang="en-US" b="1" dirty="0"/>
              <a:t>all steps </a:t>
            </a:r>
            <a:r>
              <a:rPr lang="en-US" dirty="0"/>
              <a:t>in the testing process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Even at the unit level, the performance of an individual module may be assessed as </a:t>
            </a:r>
            <a:r>
              <a:rPr lang="en-US" b="1" dirty="0"/>
              <a:t>white-box tests </a:t>
            </a:r>
            <a:r>
              <a:rPr lang="en-US" dirty="0"/>
              <a:t>are conducted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Performance </a:t>
            </a:r>
            <a:r>
              <a:rPr lang="en-US" dirty="0"/>
              <a:t>tests are often coupled with </a:t>
            </a:r>
            <a:r>
              <a:rPr lang="en-US" b="1" dirty="0"/>
              <a:t>stress testing </a:t>
            </a:r>
            <a:r>
              <a:rPr lang="en-US" dirty="0"/>
              <a:t>and usually require both hardware and software instrumentation. 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9EDA-7BF9-4AF6-A827-C9C068FE71EA}" type="datetime1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Please Prefer Roger S Pressman Book for Details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BC70-6D83-43F0-8455-F48C8702490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96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1356</TotalTime>
  <Words>1573</Words>
  <Application>Microsoft Office PowerPoint</Application>
  <PresentationFormat>Custom</PresentationFormat>
  <Paragraphs>237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A STRATEGIC APPROACH TO SOFTWARE TESTING</vt:lpstr>
      <vt:lpstr>A STRATEGIC APPROACH TO SOFTWARE TESTING</vt:lpstr>
      <vt:lpstr>  A Software Testing Strategy</vt:lpstr>
      <vt:lpstr>  A Software Testing Strategy</vt:lpstr>
      <vt:lpstr>    Unit Testing </vt:lpstr>
      <vt:lpstr>  Unit Test Considerations</vt:lpstr>
      <vt:lpstr>   Unit Test Consideration</vt:lpstr>
      <vt:lpstr>   Unit Test Procedure </vt:lpstr>
      <vt:lpstr>   Unit Test Procedure </vt:lpstr>
      <vt:lpstr>   Unit Test Procedure </vt:lpstr>
      <vt:lpstr>   Integration Testing </vt:lpstr>
      <vt:lpstr>   Integration Testing </vt:lpstr>
      <vt:lpstr>   Integration Testing </vt:lpstr>
      <vt:lpstr>  Top-Down Integration </vt:lpstr>
      <vt:lpstr>   Top-Down Integration </vt:lpstr>
      <vt:lpstr>   Top-Down Integration </vt:lpstr>
      <vt:lpstr>  Bottom-up Integration</vt:lpstr>
      <vt:lpstr>   Bottom-up Integration</vt:lpstr>
      <vt:lpstr>       Regression Testing    </vt:lpstr>
      <vt:lpstr>   Regression Testing </vt:lpstr>
      <vt:lpstr>   SMOKE TESTING</vt:lpstr>
      <vt:lpstr>   SMOKE TESTING</vt:lpstr>
      <vt:lpstr>   SMOKE TESTING</vt:lpstr>
      <vt:lpstr>   VALIDATION TESTING</vt:lpstr>
      <vt:lpstr>   VALIDATION TESTING</vt:lpstr>
      <vt:lpstr>   Configuration Review</vt:lpstr>
      <vt:lpstr>   Alpha and Beta Testing</vt:lpstr>
      <vt:lpstr>   Alpha and Beta Testing</vt:lpstr>
      <vt:lpstr>    System Testing </vt:lpstr>
      <vt:lpstr>   Recovery Testing </vt:lpstr>
      <vt:lpstr>    Security Testing</vt:lpstr>
      <vt:lpstr>    Stress Testing </vt:lpstr>
      <vt:lpstr>   Performance Testing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Administrator</cp:lastModifiedBy>
  <cp:revision>68</cp:revision>
  <dcterms:created xsi:type="dcterms:W3CDTF">2021-05-01T08:04:48Z</dcterms:created>
  <dcterms:modified xsi:type="dcterms:W3CDTF">2025-01-06T06:03:12Z</dcterms:modified>
</cp:coreProperties>
</file>