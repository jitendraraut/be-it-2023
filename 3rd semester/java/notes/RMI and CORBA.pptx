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0B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tendra Raut" userId="7b253a94e848b2f2" providerId="LiveId" clId="{597D3D4F-8DF9-43B6-AC72-77F564A20A52}"/>
    <pc:docChg chg="undo custSel modSld">
      <pc:chgData name="Jitendra Raut" userId="7b253a94e848b2f2" providerId="LiveId" clId="{597D3D4F-8DF9-43B6-AC72-77F564A20A52}" dt="2024-12-06T18:36:52.854" v="147" actId="207"/>
      <pc:docMkLst>
        <pc:docMk/>
      </pc:docMkLst>
      <pc:sldChg chg="modSp mod">
        <pc:chgData name="Jitendra Raut" userId="7b253a94e848b2f2" providerId="LiveId" clId="{597D3D4F-8DF9-43B6-AC72-77F564A20A52}" dt="2024-12-06T18:28:26.269" v="123" actId="207"/>
        <pc:sldMkLst>
          <pc:docMk/>
          <pc:sldMk cId="3878879906" sldId="256"/>
        </pc:sldMkLst>
        <pc:spChg chg="mod">
          <ac:chgData name="Jitendra Raut" userId="7b253a94e848b2f2" providerId="LiveId" clId="{597D3D4F-8DF9-43B6-AC72-77F564A20A52}" dt="2024-12-06T18:28:26.269" v="123" actId="207"/>
          <ac:spMkLst>
            <pc:docMk/>
            <pc:sldMk cId="3878879906" sldId="256"/>
            <ac:spMk id="2" creationId="{8B5A95F3-D80C-9BC7-89CE-7710FA377A74}"/>
          </ac:spMkLst>
        </pc:spChg>
      </pc:sldChg>
      <pc:sldChg chg="modSp mod">
        <pc:chgData name="Jitendra Raut" userId="7b253a94e848b2f2" providerId="LiveId" clId="{597D3D4F-8DF9-43B6-AC72-77F564A20A52}" dt="2024-12-06T18:29:24.890" v="124" actId="207"/>
        <pc:sldMkLst>
          <pc:docMk/>
          <pc:sldMk cId="1638022021" sldId="257"/>
        </pc:sldMkLst>
        <pc:spChg chg="mod">
          <ac:chgData name="Jitendra Raut" userId="7b253a94e848b2f2" providerId="LiveId" clId="{597D3D4F-8DF9-43B6-AC72-77F564A20A52}" dt="2024-12-06T18:29:24.890" v="124" actId="207"/>
          <ac:spMkLst>
            <pc:docMk/>
            <pc:sldMk cId="1638022021" sldId="257"/>
            <ac:spMk id="5" creationId="{3458271F-7A17-823A-1AFF-93F8D184B73B}"/>
          </ac:spMkLst>
        </pc:spChg>
      </pc:sldChg>
      <pc:sldChg chg="modSp mod modTransition">
        <pc:chgData name="Jitendra Raut" userId="7b253a94e848b2f2" providerId="LiveId" clId="{597D3D4F-8DF9-43B6-AC72-77F564A20A52}" dt="2024-12-06T18:30:18.411" v="126" actId="207"/>
        <pc:sldMkLst>
          <pc:docMk/>
          <pc:sldMk cId="174815358" sldId="258"/>
        </pc:sldMkLst>
        <pc:spChg chg="mod">
          <ac:chgData name="Jitendra Raut" userId="7b253a94e848b2f2" providerId="LiveId" clId="{597D3D4F-8DF9-43B6-AC72-77F564A20A52}" dt="2024-12-06T18:30:18.411" v="126" actId="207"/>
          <ac:spMkLst>
            <pc:docMk/>
            <pc:sldMk cId="174815358" sldId="258"/>
            <ac:spMk id="4" creationId="{9C5A4354-A542-4DB8-5BEF-63FD4433DE2C}"/>
          </ac:spMkLst>
        </pc:spChg>
      </pc:sldChg>
      <pc:sldChg chg="modSp mod modTransition">
        <pc:chgData name="Jitendra Raut" userId="7b253a94e848b2f2" providerId="LiveId" clId="{597D3D4F-8DF9-43B6-AC72-77F564A20A52}" dt="2024-12-06T18:30:28.238" v="127" actId="207"/>
        <pc:sldMkLst>
          <pc:docMk/>
          <pc:sldMk cId="3305130385" sldId="259"/>
        </pc:sldMkLst>
        <pc:spChg chg="mod">
          <ac:chgData name="Jitendra Raut" userId="7b253a94e848b2f2" providerId="LiveId" clId="{597D3D4F-8DF9-43B6-AC72-77F564A20A52}" dt="2024-12-06T18:30:28.238" v="127" actId="207"/>
          <ac:spMkLst>
            <pc:docMk/>
            <pc:sldMk cId="3305130385" sldId="259"/>
            <ac:spMk id="2" creationId="{6B215D84-95C3-5120-5739-07CD44007B4B}"/>
          </ac:spMkLst>
        </pc:spChg>
      </pc:sldChg>
      <pc:sldChg chg="modSp mod modTransition">
        <pc:chgData name="Jitendra Raut" userId="7b253a94e848b2f2" providerId="LiveId" clId="{597D3D4F-8DF9-43B6-AC72-77F564A20A52}" dt="2024-12-06T18:31:58.754" v="136" actId="207"/>
        <pc:sldMkLst>
          <pc:docMk/>
          <pc:sldMk cId="3864304056" sldId="260"/>
        </pc:sldMkLst>
        <pc:spChg chg="mod">
          <ac:chgData name="Jitendra Raut" userId="7b253a94e848b2f2" providerId="LiveId" clId="{597D3D4F-8DF9-43B6-AC72-77F564A20A52}" dt="2024-12-06T18:31:58.754" v="136" actId="207"/>
          <ac:spMkLst>
            <pc:docMk/>
            <pc:sldMk cId="3864304056" sldId="260"/>
            <ac:spMk id="2" creationId="{BC4E0B75-7636-F545-52CD-F000DF301C15}"/>
          </ac:spMkLst>
        </pc:spChg>
      </pc:sldChg>
      <pc:sldChg chg="modSp mod modTransition">
        <pc:chgData name="Jitendra Raut" userId="7b253a94e848b2f2" providerId="LiveId" clId="{597D3D4F-8DF9-43B6-AC72-77F564A20A52}" dt="2024-12-06T18:31:20.628" v="134" actId="15"/>
        <pc:sldMkLst>
          <pc:docMk/>
          <pc:sldMk cId="1064036693" sldId="261"/>
        </pc:sldMkLst>
        <pc:spChg chg="mod">
          <ac:chgData name="Jitendra Raut" userId="7b253a94e848b2f2" providerId="LiveId" clId="{597D3D4F-8DF9-43B6-AC72-77F564A20A52}" dt="2024-12-06T18:31:20.628" v="134" actId="15"/>
          <ac:spMkLst>
            <pc:docMk/>
            <pc:sldMk cId="1064036693" sldId="261"/>
            <ac:spMk id="4" creationId="{56342D8D-6352-318A-CCE1-D766E2DAED68}"/>
          </ac:spMkLst>
        </pc:spChg>
      </pc:sldChg>
      <pc:sldChg chg="modSp mod modTransition">
        <pc:chgData name="Jitendra Raut" userId="7b253a94e848b2f2" providerId="LiveId" clId="{597D3D4F-8DF9-43B6-AC72-77F564A20A52}" dt="2024-12-06T18:35:14.010" v="143" actId="207"/>
        <pc:sldMkLst>
          <pc:docMk/>
          <pc:sldMk cId="2987034296" sldId="262"/>
        </pc:sldMkLst>
        <pc:spChg chg="mod">
          <ac:chgData name="Jitendra Raut" userId="7b253a94e848b2f2" providerId="LiveId" clId="{597D3D4F-8DF9-43B6-AC72-77F564A20A52}" dt="2024-12-06T18:35:14.010" v="143" actId="207"/>
          <ac:spMkLst>
            <pc:docMk/>
            <pc:sldMk cId="2987034296" sldId="262"/>
            <ac:spMk id="2" creationId="{B905F574-510F-D601-5E3A-4BB1809AE20F}"/>
          </ac:spMkLst>
        </pc:spChg>
      </pc:sldChg>
      <pc:sldChg chg="modTransition">
        <pc:chgData name="Jitendra Raut" userId="7b253a94e848b2f2" providerId="LiveId" clId="{597D3D4F-8DF9-43B6-AC72-77F564A20A52}" dt="2024-12-06T18:17:14.805" v="48"/>
        <pc:sldMkLst>
          <pc:docMk/>
          <pc:sldMk cId="1972452532" sldId="263"/>
        </pc:sldMkLst>
      </pc:sldChg>
      <pc:sldChg chg="modSp mod modTransition">
        <pc:chgData name="Jitendra Raut" userId="7b253a94e848b2f2" providerId="LiveId" clId="{597D3D4F-8DF9-43B6-AC72-77F564A20A52}" dt="2024-12-06T18:36:19.263" v="146" actId="207"/>
        <pc:sldMkLst>
          <pc:docMk/>
          <pc:sldMk cId="247188669" sldId="264"/>
        </pc:sldMkLst>
        <pc:spChg chg="mod">
          <ac:chgData name="Jitendra Raut" userId="7b253a94e848b2f2" providerId="LiveId" clId="{597D3D4F-8DF9-43B6-AC72-77F564A20A52}" dt="2024-12-06T18:36:05.589" v="144" actId="207"/>
          <ac:spMkLst>
            <pc:docMk/>
            <pc:sldMk cId="247188669" sldId="264"/>
            <ac:spMk id="2" creationId="{58889B9E-C36D-0FB7-1E84-56EEBE6BC2C8}"/>
          </ac:spMkLst>
        </pc:spChg>
        <pc:spChg chg="mod">
          <ac:chgData name="Jitendra Raut" userId="7b253a94e848b2f2" providerId="LiveId" clId="{597D3D4F-8DF9-43B6-AC72-77F564A20A52}" dt="2024-12-06T18:36:19.263" v="146" actId="207"/>
          <ac:spMkLst>
            <pc:docMk/>
            <pc:sldMk cId="247188669" sldId="264"/>
            <ac:spMk id="8" creationId="{2F77D61B-7F98-3279-422F-54512CBA013B}"/>
          </ac:spMkLst>
        </pc:spChg>
      </pc:sldChg>
      <pc:sldChg chg="modSp mod modTransition">
        <pc:chgData name="Jitendra Raut" userId="7b253a94e848b2f2" providerId="LiveId" clId="{597D3D4F-8DF9-43B6-AC72-77F564A20A52}" dt="2024-12-06T18:36:52.854" v="147" actId="207"/>
        <pc:sldMkLst>
          <pc:docMk/>
          <pc:sldMk cId="486203743" sldId="265"/>
        </pc:sldMkLst>
        <pc:spChg chg="mod">
          <ac:chgData name="Jitendra Raut" userId="7b253a94e848b2f2" providerId="LiveId" clId="{597D3D4F-8DF9-43B6-AC72-77F564A20A52}" dt="2024-12-06T18:36:52.854" v="147" actId="207"/>
          <ac:spMkLst>
            <pc:docMk/>
            <pc:sldMk cId="486203743" sldId="265"/>
            <ac:spMk id="2" creationId="{5B06CFDA-3D9D-FE38-9D1B-8408A919289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AD9B0222-8C20-49A3-8EAB-A4D6705B6654}" type="datetimeFigureOut">
              <a:rPr lang="en-GB" smtClean="0"/>
              <a:t>08/12/2024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270E2D3B-AB26-43CA-872D-89F363D8F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2389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B0222-8C20-49A3-8EAB-A4D6705B6654}" type="datetimeFigureOut">
              <a:rPr lang="en-GB" smtClean="0"/>
              <a:t>08/12/2024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E2D3B-AB26-43CA-872D-89F363D8F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4978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D9B0222-8C20-49A3-8EAB-A4D6705B6654}" type="datetimeFigureOut">
              <a:rPr lang="en-GB" smtClean="0"/>
              <a:t>08/12/2024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70E2D3B-AB26-43CA-872D-89F363D8F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2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B0222-8C20-49A3-8EAB-A4D6705B6654}" type="datetimeFigureOut">
              <a:rPr lang="en-GB" smtClean="0"/>
              <a:t>08/12/2024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E2D3B-AB26-43CA-872D-89F363D8F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8081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B0222-8C20-49A3-8EAB-A4D6705B6654}" type="datetimeFigureOut">
              <a:rPr lang="en-GB" smtClean="0"/>
              <a:t>08/12/2024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E2D3B-AB26-43CA-872D-89F363D8F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6656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B0222-8C20-49A3-8EAB-A4D6705B6654}" type="datetimeFigureOut">
              <a:rPr lang="en-GB" smtClean="0"/>
              <a:t>08/12/2024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E2D3B-AB26-43CA-872D-89F363D8F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582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B0222-8C20-49A3-8EAB-A4D6705B6654}" type="datetimeFigureOut">
              <a:rPr lang="en-GB" smtClean="0"/>
              <a:t>08/12/2024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E2D3B-AB26-43CA-872D-89F363D8F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006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B0222-8C20-49A3-8EAB-A4D6705B6654}" type="datetimeFigureOut">
              <a:rPr lang="en-GB" smtClean="0"/>
              <a:t>08/12/2024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E2D3B-AB26-43CA-872D-89F363D8F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949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B0222-8C20-49A3-8EAB-A4D6705B6654}" type="datetimeFigureOut">
              <a:rPr lang="en-GB" smtClean="0"/>
              <a:t>08/12/2024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E2D3B-AB26-43CA-872D-89F363D8F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321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B0222-8C20-49A3-8EAB-A4D6705B6654}" type="datetimeFigureOut">
              <a:rPr lang="en-GB" smtClean="0"/>
              <a:t>08/12/2024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E2D3B-AB26-43CA-872D-89F363D8F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5709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D9B0222-8C20-49A3-8EAB-A4D6705B6654}" type="datetimeFigureOut">
              <a:rPr lang="en-GB" smtClean="0"/>
              <a:t>08/12/2024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70E2D3B-AB26-43CA-872D-89F363D8F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8969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D9B0222-8C20-49A3-8EAB-A4D6705B6654}" type="datetimeFigureOut">
              <a:rPr lang="en-GB" smtClean="0"/>
              <a:t>08/12/2024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70E2D3B-AB26-43CA-872D-89F363D8F5B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52286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D9B0222-8C20-49A3-8EAB-A4D6705B6654}" type="datetimeFigureOut">
              <a:rPr lang="en-GB" smtClean="0"/>
              <a:t>08/12/2024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70E2D3B-AB26-43CA-872D-89F363D8F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45258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B0222-8C20-49A3-8EAB-A4D6705B6654}" type="datetimeFigureOut">
              <a:rPr lang="en-GB" smtClean="0"/>
              <a:t>08/12/2024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E2D3B-AB26-43CA-872D-89F363D8F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868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B0222-8C20-49A3-8EAB-A4D6705B6654}" type="datetimeFigureOut">
              <a:rPr lang="en-GB" smtClean="0"/>
              <a:t>08/12/2024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E2D3B-AB26-43CA-872D-89F363D8F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907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B0222-8C20-49A3-8EAB-A4D6705B6654}" type="datetimeFigureOut">
              <a:rPr lang="en-GB" smtClean="0"/>
              <a:t>08/12/2024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E2D3B-AB26-43CA-872D-89F363D8F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30354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D9B0222-8C20-49A3-8EAB-A4D6705B6654}" type="datetimeFigureOut">
              <a:rPr lang="en-GB" smtClean="0"/>
              <a:t>08/12/2024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70E2D3B-AB26-43CA-872D-89F363D8F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6622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B0222-8C20-49A3-8EAB-A4D6705B6654}" type="datetimeFigureOut">
              <a:rPr lang="en-GB" smtClean="0"/>
              <a:t>08/12/2024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E2D3B-AB26-43CA-872D-89F363D8F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5315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19" r:id="rId16"/>
    <p:sldLayoutId id="2147483820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A95F3-D80C-9BC7-89CE-7710FA377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464799"/>
            <a:ext cx="9448800" cy="1825096"/>
          </a:xfrm>
        </p:spPr>
        <p:txBody>
          <a:bodyPr>
            <a:normAutofit/>
          </a:bodyPr>
          <a:lstStyle/>
          <a:p>
            <a:pPr algn="ctr"/>
            <a:r>
              <a:rPr lang="en-GB" sz="8000" dirty="0">
                <a:solidFill>
                  <a:schemeClr val="accent6"/>
                </a:solidFill>
              </a:rPr>
              <a:t>RMI and CORBa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B30803-81DD-9053-0B1D-AA1BA603B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116" y="3179714"/>
            <a:ext cx="9448800" cy="3004269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8"/>
            <a:endParaRPr lang="en-US" dirty="0"/>
          </a:p>
          <a:p>
            <a:pPr lvl="8"/>
            <a:r>
              <a:rPr lang="en-US" sz="3100" dirty="0"/>
              <a:t>			Presented by:</a:t>
            </a:r>
          </a:p>
          <a:p>
            <a:pPr lvl="8"/>
            <a:endParaRPr lang="en-US" sz="3100" dirty="0"/>
          </a:p>
          <a:p>
            <a:pPr lvl="8"/>
            <a:r>
              <a:rPr lang="en-US" sz="3100" dirty="0"/>
              <a:t>			Jitendra Raut</a:t>
            </a:r>
          </a:p>
          <a:p>
            <a:pPr lvl="8"/>
            <a:r>
              <a:rPr lang="en-US" sz="3100" dirty="0"/>
              <a:t>		Asha Giri</a:t>
            </a:r>
          </a:p>
          <a:p>
            <a:pPr lvl="8"/>
            <a:r>
              <a:rPr lang="en-US" sz="3100" dirty="0"/>
              <a:t>			Komal Basnet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8799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458271F-7A17-823A-1AFF-93F8D184B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116" y="445945"/>
            <a:ext cx="9448800" cy="1825096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Introduction: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GB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3B985DC-8FD9-1D88-CD10-2BD4B84E56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942" y="2614105"/>
            <a:ext cx="9448800" cy="2928855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GB" sz="4000" dirty="0"/>
              <a:t>Both RMI (Remote Method Invocation) and CORBA (Common Object Request Broker Architecture) are distributed computing technologies that provide communication to objects on devices on the network.</a:t>
            </a:r>
          </a:p>
        </p:txBody>
      </p:sp>
    </p:spTree>
    <p:extLst>
      <p:ext uri="{BB962C8B-B14F-4D97-AF65-F5344CB8AC3E}">
        <p14:creationId xmlns:p14="http://schemas.microsoft.com/office/powerpoint/2010/main" val="163802202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C5A4354-A542-4DB8-5BEF-63FD4433DE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6156" y="1361220"/>
            <a:ext cx="4461478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GB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RMI Architecture</a:t>
            </a:r>
            <a:r>
              <a:rPr lang="en-GB" sz="3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</a:t>
            </a:r>
            <a:br>
              <a:rPr lang="en-GB" sz="3600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54F1F19-AE45-45A1-2C5D-05D106EA6D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3141296"/>
            <a:ext cx="1170038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 and server communicate via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 RMI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protocol.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 makes a method call to a remote object, which the server implements.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1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E0B75-7636-F545-52CD-F000DF30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1340739"/>
          </a:xfrm>
        </p:spPr>
        <p:txBody>
          <a:bodyPr/>
          <a:lstStyle/>
          <a:p>
            <a:r>
              <a:rPr lang="en-GB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RMI Diagram:</a:t>
            </a:r>
            <a:br>
              <a:rPr lang="en-GB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endParaRPr lang="en-GB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EFB2A6-347A-3CFC-480A-EF545582C4A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30341" y="1918599"/>
            <a:ext cx="11580487" cy="353943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 calls method on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 Object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 RMI Protocol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 has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 Object Implementation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Java-specific communication mechanism.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E7E0D5-8E86-531C-7FB6-81CBD69F07EA}"/>
              </a:ext>
            </a:extLst>
          </p:cNvPr>
          <p:cNvSpPr/>
          <p:nvPr/>
        </p:nvSpPr>
        <p:spPr>
          <a:xfrm>
            <a:off x="642457" y="4486786"/>
            <a:ext cx="1730434" cy="6419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 Application</a:t>
            </a:r>
            <a:endParaRPr lang="en-GB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395E2C8-F8C5-7F07-EF3E-972A61899ED1}"/>
              </a:ext>
            </a:extLst>
          </p:cNvPr>
          <p:cNvCxnSpPr>
            <a:cxnSpLocks/>
          </p:cNvCxnSpPr>
          <p:nvPr/>
        </p:nvCxnSpPr>
        <p:spPr>
          <a:xfrm>
            <a:off x="2372891" y="4831095"/>
            <a:ext cx="2067134" cy="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26D9C08-C4C4-5990-ECC7-B667D6C16B47}"/>
              </a:ext>
            </a:extLst>
          </p:cNvPr>
          <p:cNvSpPr/>
          <p:nvPr/>
        </p:nvSpPr>
        <p:spPr>
          <a:xfrm>
            <a:off x="4440025" y="4528550"/>
            <a:ext cx="2384981" cy="6050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Java RMI </a:t>
            </a:r>
            <a:r>
              <a:rPr lang="en-US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protocal</a:t>
            </a:r>
            <a:endParaRPr lang="en-GB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0DEB96-492B-17A0-D0E4-98E299AE5D4C}"/>
              </a:ext>
            </a:extLst>
          </p:cNvPr>
          <p:cNvSpPr/>
          <p:nvPr/>
        </p:nvSpPr>
        <p:spPr>
          <a:xfrm>
            <a:off x="9092767" y="4468307"/>
            <a:ext cx="2259261" cy="7362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>
                    <a:lumMod val="90000"/>
                  </a:schemeClr>
                </a:solidFill>
              </a:rPr>
              <a:t>Server</a:t>
            </a:r>
            <a:endParaRPr lang="en-US" sz="1200" dirty="0">
              <a:solidFill>
                <a:schemeClr val="tx2">
                  <a:lumMod val="90000"/>
                </a:schemeClr>
              </a:solidFill>
            </a:endParaRPr>
          </a:p>
          <a:p>
            <a:pPr algn="ctr"/>
            <a:r>
              <a:rPr lang="en-US" sz="1200" dirty="0"/>
              <a:t> </a:t>
            </a:r>
            <a:r>
              <a:rPr lang="en-US" sz="1600" dirty="0">
                <a:solidFill>
                  <a:schemeClr val="tx2"/>
                </a:solidFill>
              </a:rPr>
              <a:t>Remote Object </a:t>
            </a:r>
            <a:r>
              <a:rPr lang="en-US" sz="1200" dirty="0">
                <a:solidFill>
                  <a:schemeClr val="tx2">
                    <a:lumMod val="90000"/>
                  </a:schemeClr>
                </a:solidFill>
              </a:rPr>
              <a:t>Implementation</a:t>
            </a:r>
            <a:endParaRPr lang="en-GB" sz="1200" dirty="0">
              <a:solidFill>
                <a:schemeClr val="tx2">
                  <a:lumMod val="90000"/>
                </a:schemeClr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41B94D5-831A-C468-1AE5-AAA60444C8F7}"/>
              </a:ext>
            </a:extLst>
          </p:cNvPr>
          <p:cNvCxnSpPr>
            <a:cxnSpLocks/>
          </p:cNvCxnSpPr>
          <p:nvPr/>
        </p:nvCxnSpPr>
        <p:spPr>
          <a:xfrm>
            <a:off x="6825006" y="4831095"/>
            <a:ext cx="22677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304056"/>
      </p:ext>
    </p:extLst>
  </p:cSld>
  <p:clrMapOvr>
    <a:masterClrMapping/>
  </p:clrMapOvr>
  <p:transition spd="slow">
    <p:push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15D84-95C3-5120-5739-07CD44007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6928701" cy="2194489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CORBA Architecture</a:t>
            </a:r>
            <a:r>
              <a:rPr lang="en-GB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:</a:t>
            </a:r>
            <a:br>
              <a:rPr lang="en-GB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endParaRPr lang="en-GB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66B85-871B-656A-CDDA-C5514B18F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712" y="2194489"/>
            <a:ext cx="10490200" cy="3014714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GB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dirty="0"/>
              <a:t>CORBA uses </a:t>
            </a:r>
            <a:r>
              <a:rPr lang="en-GB" sz="2800" b="1" dirty="0"/>
              <a:t>IDL (Interface Definition Language)</a:t>
            </a:r>
            <a:r>
              <a:rPr lang="en-GB" sz="2800" dirty="0"/>
              <a:t> to define object interfaces.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dirty="0"/>
              <a:t>Objects communicate across different programming languages and platforms via </a:t>
            </a:r>
            <a:r>
              <a:rPr lang="en-GB" sz="2800" b="1" dirty="0"/>
              <a:t>IIOP</a:t>
            </a:r>
            <a:r>
              <a:rPr lang="en-GB" sz="2800" dirty="0"/>
              <a:t>.</a:t>
            </a:r>
          </a:p>
          <a:p>
            <a:pPr algn="l"/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30513038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D5099-E113-12A2-481B-1DA466008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928701" cy="1293028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solidFill>
                  <a:schemeClr val="tx2"/>
                </a:solidFill>
              </a:rPr>
              <a:t>CORBA Diagram:</a:t>
            </a:r>
            <a:endParaRPr lang="en-GB" sz="6000" dirty="0">
              <a:solidFill>
                <a:schemeClr val="tx2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342D8D-6352-318A-CCE1-D766E2DAED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234" y="-338380"/>
            <a:ext cx="1067789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Clients in different programming languages (e.g., Java, C++) communicate through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IIOP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ORB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(Object Request Broker) handles the interaction between client and server across platforms.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F7C16D-5F76-9A32-67BE-329AAE32613B}"/>
              </a:ext>
            </a:extLst>
          </p:cNvPr>
          <p:cNvSpPr/>
          <p:nvPr/>
        </p:nvSpPr>
        <p:spPr>
          <a:xfrm rot="10800000" flipH="1" flipV="1">
            <a:off x="285478" y="4306411"/>
            <a:ext cx="2729683" cy="1013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Java </a:t>
            </a:r>
            <a:r>
              <a:rPr lang="en-US" sz="2800" dirty="0">
                <a:highlight>
                  <a:srgbClr val="008080"/>
                </a:highlight>
              </a:rPr>
              <a:t>Client</a:t>
            </a:r>
            <a:r>
              <a:rPr lang="en-US" sz="2800" dirty="0"/>
              <a:t> Application</a:t>
            </a:r>
            <a:endParaRPr lang="en-GB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8772EB-6D49-3E77-E11E-7BF5EFD4FCEE}"/>
              </a:ext>
            </a:extLst>
          </p:cNvPr>
          <p:cNvSpPr/>
          <p:nvPr/>
        </p:nvSpPr>
        <p:spPr>
          <a:xfrm rot="10800000" flipH="1" flipV="1">
            <a:off x="4264138" y="4304261"/>
            <a:ext cx="2268088" cy="10180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highlight>
                  <a:srgbClr val="008080"/>
                </a:highlight>
              </a:rPr>
              <a:t>ORB</a:t>
            </a:r>
            <a:r>
              <a:rPr lang="en-US" sz="2400" dirty="0"/>
              <a:t>(Request)</a:t>
            </a:r>
            <a:endParaRPr lang="en-GB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C50C63-9C88-1BF5-C96B-EA3B5BE674B1}"/>
              </a:ext>
            </a:extLst>
          </p:cNvPr>
          <p:cNvSpPr/>
          <p:nvPr/>
        </p:nvSpPr>
        <p:spPr>
          <a:xfrm rot="10800000" flipH="1" flipV="1">
            <a:off x="7704921" y="4304261"/>
            <a:ext cx="3485562" cy="1092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CORBA </a:t>
            </a:r>
            <a:r>
              <a:rPr lang="en-US" dirty="0">
                <a:highlight>
                  <a:srgbClr val="008080"/>
                </a:highlight>
              </a:rPr>
              <a:t>server</a:t>
            </a:r>
          </a:p>
          <a:p>
            <a:pPr algn="ctr"/>
            <a:r>
              <a:rPr lang="en-US" dirty="0"/>
              <a:t>(IDL Interface)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417A973-783D-AD93-A75F-47098ACD9A3A}"/>
              </a:ext>
            </a:extLst>
          </p:cNvPr>
          <p:cNvCxnSpPr>
            <a:cxnSpLocks/>
          </p:cNvCxnSpPr>
          <p:nvPr/>
        </p:nvCxnSpPr>
        <p:spPr>
          <a:xfrm>
            <a:off x="3015162" y="4813308"/>
            <a:ext cx="1140642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D586E01-3BFF-AB0B-4D87-CDA813C844CE}"/>
              </a:ext>
            </a:extLst>
          </p:cNvPr>
          <p:cNvCxnSpPr>
            <a:cxnSpLocks/>
          </p:cNvCxnSpPr>
          <p:nvPr/>
        </p:nvCxnSpPr>
        <p:spPr>
          <a:xfrm>
            <a:off x="6532226" y="4803294"/>
            <a:ext cx="1065778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12F3A86-2594-300C-3977-07FA7FC0BEBF}"/>
              </a:ext>
            </a:extLst>
          </p:cNvPr>
          <p:cNvCxnSpPr>
            <a:cxnSpLocks/>
          </p:cNvCxnSpPr>
          <p:nvPr/>
        </p:nvCxnSpPr>
        <p:spPr>
          <a:xfrm>
            <a:off x="1574276" y="5397261"/>
            <a:ext cx="0" cy="58876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445F6F7-6B52-A556-5014-4579F0080733}"/>
              </a:ext>
            </a:extLst>
          </p:cNvPr>
          <p:cNvCxnSpPr>
            <a:cxnSpLocks/>
          </p:cNvCxnSpPr>
          <p:nvPr/>
        </p:nvCxnSpPr>
        <p:spPr>
          <a:xfrm>
            <a:off x="5194168" y="5510382"/>
            <a:ext cx="0" cy="58876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6B479E47-FFD2-5714-8284-7A567D116204}"/>
              </a:ext>
            </a:extLst>
          </p:cNvPr>
          <p:cNvSpPr/>
          <p:nvPr/>
        </p:nvSpPr>
        <p:spPr>
          <a:xfrm>
            <a:off x="751042" y="6063077"/>
            <a:ext cx="1646468" cy="30944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C++ Client</a:t>
            </a:r>
            <a:endParaRPr lang="en-GB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B8001C-5E88-A606-52E2-47FDBBD9F03E}"/>
              </a:ext>
            </a:extLst>
          </p:cNvPr>
          <p:cNvSpPr txBox="1"/>
          <p:nvPr/>
        </p:nvSpPr>
        <p:spPr>
          <a:xfrm>
            <a:off x="2969443" y="3077008"/>
            <a:ext cx="6146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</a:t>
            </a:r>
            <a:endParaRPr lang="en-GB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D2E4A88-E821-6582-7F74-6051EB81E57C}"/>
              </a:ext>
            </a:extLst>
          </p:cNvPr>
          <p:cNvSpPr/>
          <p:nvPr/>
        </p:nvSpPr>
        <p:spPr>
          <a:xfrm>
            <a:off x="4449532" y="6132446"/>
            <a:ext cx="1646468" cy="30944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C++ Server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403669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5F574-510F-D601-5E3A-4BB1809A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656841" cy="1120988"/>
          </a:xfrm>
        </p:spPr>
        <p:txBody>
          <a:bodyPr/>
          <a:lstStyle/>
          <a:p>
            <a:r>
              <a:rPr lang="en-GB" b="1" dirty="0">
                <a:solidFill>
                  <a:schemeClr val="accent3"/>
                </a:solidFill>
              </a:rPr>
              <a:t>Key Differences: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530E55-3A33-1FDC-3171-98B898AC9F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9901939"/>
              </p:ext>
            </p:extLst>
          </p:nvPr>
        </p:nvGraphicFramePr>
        <p:xfrm>
          <a:off x="254524" y="1272618"/>
          <a:ext cx="11510127" cy="4939646"/>
        </p:xfrm>
        <a:graphic>
          <a:graphicData uri="http://schemas.openxmlformats.org/drawingml/2006/table">
            <a:tbl>
              <a:tblPr/>
              <a:tblGrid>
                <a:gridCol w="3836709">
                  <a:extLst>
                    <a:ext uri="{9D8B030D-6E8A-4147-A177-3AD203B41FA5}">
                      <a16:colId xmlns:a16="http://schemas.microsoft.com/office/drawing/2014/main" val="2983265439"/>
                    </a:ext>
                  </a:extLst>
                </a:gridCol>
                <a:gridCol w="3836709">
                  <a:extLst>
                    <a:ext uri="{9D8B030D-6E8A-4147-A177-3AD203B41FA5}">
                      <a16:colId xmlns:a16="http://schemas.microsoft.com/office/drawing/2014/main" val="3810067809"/>
                    </a:ext>
                  </a:extLst>
                </a:gridCol>
                <a:gridCol w="3836709">
                  <a:extLst>
                    <a:ext uri="{9D8B030D-6E8A-4147-A177-3AD203B41FA5}">
                      <a16:colId xmlns:a16="http://schemas.microsoft.com/office/drawing/2014/main" val="682042607"/>
                    </a:ext>
                  </a:extLst>
                </a:gridCol>
              </a:tblGrid>
              <a:tr h="352697">
                <a:tc>
                  <a:txBody>
                    <a:bodyPr/>
                    <a:lstStyle/>
                    <a:p>
                      <a:r>
                        <a:rPr lang="en-GB" sz="1500" dirty="0"/>
                        <a:t>Feature</a:t>
                      </a:r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b="1"/>
                        <a:t>RMI</a:t>
                      </a:r>
                      <a:endParaRPr lang="en-GB" sz="1500"/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b="1" dirty="0"/>
                        <a:t>CORBA</a:t>
                      </a:r>
                      <a:endParaRPr lang="en-GB" sz="1500" dirty="0"/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089316"/>
                  </a:ext>
                </a:extLst>
              </a:tr>
              <a:tr h="617456">
                <a:tc>
                  <a:txBody>
                    <a:bodyPr/>
                    <a:lstStyle/>
                    <a:p>
                      <a:r>
                        <a:rPr lang="en-GB" sz="1500" b="1" dirty="0"/>
                        <a:t>Technology Type</a:t>
                      </a:r>
                      <a:endParaRPr lang="en-GB" sz="1500" dirty="0"/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500"/>
                        <a:t>Java-specific technology</a:t>
                      </a:r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500"/>
                        <a:t>Language-independent (supports multiple languages)</a:t>
                      </a:r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984271"/>
                  </a:ext>
                </a:extLst>
              </a:tr>
              <a:tr h="882213">
                <a:tc>
                  <a:txBody>
                    <a:bodyPr/>
                    <a:lstStyle/>
                    <a:p>
                      <a:r>
                        <a:rPr lang="en-GB" sz="1500" b="1" dirty="0"/>
                        <a:t>Architecture</a:t>
                      </a:r>
                      <a:endParaRPr lang="en-GB" sz="1500" dirty="0"/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dirty="0"/>
                        <a:t>Simple and easy-to-use for Java</a:t>
                      </a:r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500"/>
                        <a:t>Complex and flexible, supports a wide range of languages</a:t>
                      </a:r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840904"/>
                  </a:ext>
                </a:extLst>
              </a:tr>
              <a:tr h="617456">
                <a:tc>
                  <a:txBody>
                    <a:bodyPr/>
                    <a:lstStyle/>
                    <a:p>
                      <a:r>
                        <a:rPr lang="en-GB" sz="1500" b="1" dirty="0"/>
                        <a:t>Protocol</a:t>
                      </a:r>
                      <a:endParaRPr lang="en-GB" sz="1500" dirty="0"/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500"/>
                        <a:t>Uses Java-specific protocols (JRMP, IIOP)</a:t>
                      </a:r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500"/>
                        <a:t>IIOP (Internet Inter-ORB Protocol)</a:t>
                      </a:r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100666"/>
                  </a:ext>
                </a:extLst>
              </a:tr>
              <a:tr h="617456">
                <a:tc>
                  <a:txBody>
                    <a:bodyPr/>
                    <a:lstStyle/>
                    <a:p>
                      <a:r>
                        <a:rPr lang="en-GB" sz="1500" b="1"/>
                        <a:t>Object Model</a:t>
                      </a:r>
                      <a:endParaRPr lang="en-GB" sz="1500"/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500"/>
                        <a:t>Based on Java objects</a:t>
                      </a:r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dirty="0"/>
                        <a:t>Based on CORBA objects (IDL-based)</a:t>
                      </a:r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827368"/>
                  </a:ext>
                </a:extLst>
              </a:tr>
              <a:tr h="617456">
                <a:tc>
                  <a:txBody>
                    <a:bodyPr/>
                    <a:lstStyle/>
                    <a:p>
                      <a:r>
                        <a:rPr lang="en-GB" sz="1500" b="1"/>
                        <a:t>Performance</a:t>
                      </a:r>
                      <a:endParaRPr lang="en-GB" sz="1500"/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500"/>
                        <a:t>Generally faster for Java-to-Java communication</a:t>
                      </a:r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500"/>
                        <a:t>More overhead due to language independence</a:t>
                      </a:r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500779"/>
                  </a:ext>
                </a:extLst>
              </a:tr>
              <a:tr h="617456">
                <a:tc>
                  <a:txBody>
                    <a:bodyPr/>
                    <a:lstStyle/>
                    <a:p>
                      <a:r>
                        <a:rPr lang="en-GB" sz="1500" b="1"/>
                        <a:t>Security</a:t>
                      </a:r>
                      <a:endParaRPr lang="en-GB" sz="1500"/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500"/>
                        <a:t>Basic Java security mechanisms</a:t>
                      </a:r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500"/>
                        <a:t>Rich security features (e.g., SSL, Authentication)</a:t>
                      </a:r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133688"/>
                  </a:ext>
                </a:extLst>
              </a:tr>
              <a:tr h="617456">
                <a:tc>
                  <a:txBody>
                    <a:bodyPr/>
                    <a:lstStyle/>
                    <a:p>
                      <a:r>
                        <a:rPr lang="en-GB" sz="1500" b="1"/>
                        <a:t>Use Cases</a:t>
                      </a:r>
                      <a:endParaRPr lang="en-GB" sz="1500"/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dirty="0"/>
                        <a:t>Primarily Java-based applications</a:t>
                      </a:r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dirty="0"/>
                        <a:t>Enterprise applications across heterogeneous environments</a:t>
                      </a:r>
                    </a:p>
                  </a:txBody>
                  <a:tcPr marL="75930" marR="75930" marT="37965" marB="37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115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7034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37859-0E44-04B0-DD7E-8CD9839C5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95" y="104496"/>
            <a:ext cx="8041064" cy="88531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ADVANTAGE  AND  DISADVANTAGE</a:t>
            </a: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0C26C-998A-1414-2C76-DF5B4558F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996" y="1106094"/>
            <a:ext cx="10820400" cy="5355980"/>
          </a:xfrm>
        </p:spPr>
        <p:txBody>
          <a:bodyPr>
            <a:normAutofit fontScale="92500"/>
          </a:bodyPr>
          <a:lstStyle/>
          <a:p>
            <a:r>
              <a:rPr lang="en-US" sz="2800" dirty="0">
                <a:solidFill>
                  <a:schemeClr val="accent5"/>
                </a:solidFill>
              </a:rPr>
              <a:t>ADVANTAGE:</a:t>
            </a:r>
          </a:p>
          <a:p>
            <a:r>
              <a:rPr lang="en-GB" sz="2000" b="1" dirty="0">
                <a:solidFill>
                  <a:schemeClr val="accent3"/>
                </a:solidFill>
              </a:rPr>
              <a:t>RMI</a:t>
            </a:r>
            <a:r>
              <a:rPr lang="en-GB" sz="2000" dirty="0"/>
              <a:t>: Simpler to implement in a Java-only environment, faster performance within Java ecosystems.</a:t>
            </a:r>
          </a:p>
          <a:p>
            <a:endParaRPr lang="en-US" sz="2400" dirty="0"/>
          </a:p>
          <a:p>
            <a:r>
              <a:rPr lang="en-GB" b="1" dirty="0">
                <a:solidFill>
                  <a:schemeClr val="accent3"/>
                </a:solidFill>
              </a:rPr>
              <a:t>CORBA</a:t>
            </a:r>
            <a:r>
              <a:rPr lang="en-GB" dirty="0"/>
              <a:t>: Platform and language independent, offers greater flexibility in heterogeneous environments.</a:t>
            </a:r>
          </a:p>
          <a:p>
            <a:endParaRPr lang="en-GB" dirty="0"/>
          </a:p>
          <a:p>
            <a:endParaRPr lang="en-GB" dirty="0"/>
          </a:p>
          <a:p>
            <a:r>
              <a:rPr lang="en-US" sz="2400" dirty="0">
                <a:solidFill>
                  <a:schemeClr val="accent5"/>
                </a:solidFill>
              </a:rPr>
              <a:t>DISADVANTAGE</a:t>
            </a:r>
            <a:r>
              <a:rPr lang="en-GB" sz="2400" dirty="0">
                <a:solidFill>
                  <a:schemeClr val="accent5"/>
                </a:solidFill>
              </a:rPr>
              <a:t>:</a:t>
            </a:r>
          </a:p>
          <a:p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accent3"/>
                </a:solidFill>
              </a:rPr>
              <a:t>RMI</a:t>
            </a:r>
            <a:r>
              <a:rPr lang="en-GB" sz="2000" dirty="0"/>
              <a:t>: Limited to Java, not suitable for applications that need to support multiple languages or platforms.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accent3"/>
                </a:solidFill>
              </a:rPr>
              <a:t>CORBA</a:t>
            </a:r>
            <a:r>
              <a:rPr lang="en-GB" sz="2000" dirty="0"/>
              <a:t>: More complex and may involve higher overhead for smaller-scale applications.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2452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zoom/>
      </p:transition>
    </mc:Choice>
    <mc:Fallback xmlns="">
      <p:transition spd="slow">
        <p:zo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89B9E-C36D-0FB7-1E84-56EEBE6BC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02" y="198764"/>
            <a:ext cx="5279010" cy="1293028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SUMMARY</a:t>
            </a:r>
            <a:r>
              <a:rPr lang="en-US" dirty="0"/>
              <a:t>: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77D61B-7F98-3279-422F-54512CBA0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2" y="1973118"/>
            <a:ext cx="10820400" cy="402412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3"/>
                </a:solidFill>
              </a:rPr>
              <a:t>RMI</a:t>
            </a:r>
            <a:r>
              <a:rPr lang="en-GB" sz="2400" dirty="0"/>
              <a:t> is simpler, Java-centric, and uses Java-specific protocols.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5"/>
                </a:solidFill>
              </a:rPr>
              <a:t>CORBA</a:t>
            </a:r>
            <a:r>
              <a:rPr lang="en-GB" sz="2400" dirty="0"/>
              <a:t> is more complex but supports heterogeneous systems and multiple languages.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188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 dir="in"/>
      </p:transition>
    </mc:Choice>
    <mc:Fallback xmlns="">
      <p:transition spd="slow">
        <p:split orient="vert" dir="in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6CFDA-3D9D-FE38-9D1B-8408A9192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127" y="1386542"/>
            <a:ext cx="8610600" cy="3628518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chemeClr val="accent5"/>
                </a:solidFill>
              </a:rPr>
              <a:t>THANK YOU !!!!</a:t>
            </a:r>
            <a:endParaRPr lang="en-GB" sz="7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6203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207</TotalTime>
  <Words>405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Vapor Trail</vt:lpstr>
      <vt:lpstr>RMI and CORBa</vt:lpstr>
      <vt:lpstr>Introduction: </vt:lpstr>
      <vt:lpstr>RMI Architecture: </vt:lpstr>
      <vt:lpstr>RMI Diagram: </vt:lpstr>
      <vt:lpstr>CORBA Architecture: </vt:lpstr>
      <vt:lpstr>CORBA Diagram:</vt:lpstr>
      <vt:lpstr>Key Differences:</vt:lpstr>
      <vt:lpstr>ADVANTAGE  AND  DISADVANTAGE</vt:lpstr>
      <vt:lpstr>SUMMARY:</vt:lpstr>
      <vt:lpstr>THANK YOU !!!!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Jitendra Raut</dc:creator>
  <cp:lastModifiedBy>Jitendra Raut</cp:lastModifiedBy>
  <cp:revision>4</cp:revision>
  <dcterms:created xsi:type="dcterms:W3CDTF">2024-12-06T14:31:45Z</dcterms:created>
  <dcterms:modified xsi:type="dcterms:W3CDTF">2024-12-08T08:02:51Z</dcterms:modified>
</cp:coreProperties>
</file>